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sldIdLst>
    <p:sldId id="390" r:id="rId5"/>
    <p:sldId id="423" r:id="rId6"/>
    <p:sldId id="379" r:id="rId7"/>
    <p:sldId id="435" r:id="rId8"/>
    <p:sldId id="437" r:id="rId9"/>
    <p:sldId id="445" r:id="rId10"/>
    <p:sldId id="452" r:id="rId11"/>
    <p:sldId id="311" r:id="rId12"/>
    <p:sldId id="446" r:id="rId13"/>
    <p:sldId id="449" r:id="rId14"/>
    <p:sldId id="456" r:id="rId15"/>
    <p:sldId id="457" r:id="rId16"/>
    <p:sldId id="458" r:id="rId17"/>
    <p:sldId id="450" r:id="rId18"/>
    <p:sldId id="459" r:id="rId19"/>
    <p:sldId id="453" r:id="rId20"/>
    <p:sldId id="460" r:id="rId21"/>
    <p:sldId id="454" r:id="rId22"/>
    <p:sldId id="461" r:id="rId23"/>
    <p:sldId id="455" r:id="rId24"/>
    <p:sldId id="451" r:id="rId25"/>
    <p:sldId id="470" r:id="rId26"/>
    <p:sldId id="471" r:id="rId27"/>
    <p:sldId id="476" r:id="rId28"/>
    <p:sldId id="477" r:id="rId29"/>
    <p:sldId id="478" r:id="rId30"/>
    <p:sldId id="462" r:id="rId31"/>
    <p:sldId id="473" r:id="rId32"/>
    <p:sldId id="491" r:id="rId33"/>
    <p:sldId id="480" r:id="rId34"/>
    <p:sldId id="481" r:id="rId35"/>
    <p:sldId id="493" r:id="rId36"/>
    <p:sldId id="494" r:id="rId37"/>
    <p:sldId id="482" r:id="rId38"/>
    <p:sldId id="483" r:id="rId39"/>
    <p:sldId id="495" r:id="rId40"/>
    <p:sldId id="496" r:id="rId41"/>
    <p:sldId id="484" r:id="rId42"/>
    <p:sldId id="497" r:id="rId43"/>
    <p:sldId id="485" r:id="rId44"/>
    <p:sldId id="500" r:id="rId45"/>
    <p:sldId id="486" r:id="rId46"/>
    <p:sldId id="487" r:id="rId47"/>
    <p:sldId id="498" r:id="rId48"/>
    <p:sldId id="499" r:id="rId49"/>
    <p:sldId id="488" r:id="rId50"/>
    <p:sldId id="489" r:id="rId51"/>
    <p:sldId id="49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eatik Accounts" initials="CA" lastIdx="1" clrIdx="0">
    <p:extLst>
      <p:ext uri="{19B8F6BF-5375-455C-9EA6-DF929625EA0E}">
        <p15:presenceInfo xmlns:p15="http://schemas.microsoft.com/office/powerpoint/2012/main" userId="5fa15690ade8eb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EFA"/>
    <a:srgbClr val="85F9FF"/>
    <a:srgbClr val="334D5E"/>
    <a:srgbClr val="E6F8FA"/>
    <a:srgbClr val="B3E9EC"/>
    <a:srgbClr val="00B7C1"/>
    <a:srgbClr val="EEA616"/>
    <a:srgbClr val="CC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DD8272-A4F4-2C19-6BE8-7AFFBBF656C8}" v="17" dt="2025-02-28T03:46:45.268"/>
  </p1510:revLst>
</p1510:revInfo>
</file>

<file path=ppt/tableStyles.xml><?xml version="1.0" encoding="utf-8"?>
<a:tblStyleLst xmlns:a="http://schemas.openxmlformats.org/drawingml/2006/main" def="{0660B408-B3CF-4A94-85FC-2B1E0A45F4A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95"/>
    <p:restoredTop sz="70340"/>
  </p:normalViewPr>
  <p:slideViewPr>
    <p:cSldViewPr snapToGrid="0">
      <p:cViewPr>
        <p:scale>
          <a:sx n="157" d="100"/>
          <a:sy n="157" d="100"/>
        </p:scale>
        <p:origin x="144" y="-27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4BA55-81C8-4142-9D5B-D2A01EE88240}" type="datetimeFigureOut">
              <a:rPr lang="en-AU" smtClean="0"/>
              <a:t>24/5/2025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E93AF-F07C-4A19-877F-17B5970098E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0273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These are some examples for the C4 Book I’ll tell you about later.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Feel free to comment in the chat what’s wrong with this diagram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Did a 6 year old draw this?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are the dotted lines?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Big ball of muddy mess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do the </a:t>
            </a:r>
            <a:r>
              <a:rPr lang="en-US" dirty="0" err="1"/>
              <a:t>coloured</a:t>
            </a:r>
            <a:r>
              <a:rPr lang="en-US" dirty="0"/>
              <a:t> lines mean?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are those </a:t>
            </a:r>
            <a:r>
              <a:rPr lang="en-US" dirty="0" err="1"/>
              <a:t>unlabelled</a:t>
            </a:r>
            <a:r>
              <a:rPr lang="en-US" dirty="0"/>
              <a:t> circles?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are those </a:t>
            </a:r>
            <a:r>
              <a:rPr lang="en-US" dirty="0" err="1"/>
              <a:t>unlabelled</a:t>
            </a:r>
            <a:r>
              <a:rPr lang="en-US" dirty="0"/>
              <a:t> squares underneath report?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is TDS? What is RDS?</a:t>
            </a:r>
            <a:br>
              <a:rPr lang="en-US" dirty="0"/>
            </a:br>
            <a:r>
              <a:rPr lang="en-US" dirty="0"/>
              <a:t>Hands up who’s guilty of drawing something like this?  Don’t be shy now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9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07857F6B-B133-070F-729A-75B304A58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8:notes">
            <a:extLst>
              <a:ext uri="{FF2B5EF4-FFF2-40B4-BE49-F238E27FC236}">
                <a16:creationId xmlns:a16="http://schemas.microsoft.com/office/drawing/2014/main" id="{2D914DA1-2E7B-230E-E971-5825F1EDD2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p28:notes">
            <a:extLst>
              <a:ext uri="{FF2B5EF4-FFF2-40B4-BE49-F238E27FC236}">
                <a16:creationId xmlns:a16="http://schemas.microsoft.com/office/drawing/2014/main" id="{C3500EA0-3898-8ACD-2D5A-D165E7F72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This diagram is a bit better, but still have issues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does action mean?</a:t>
            </a:r>
            <a:br>
              <a:rPr lang="en-US" dirty="0"/>
            </a:br>
            <a:r>
              <a:rPr lang="en-US" dirty="0"/>
              <a:t>What type of errors? Are they all the same error?</a:t>
            </a:r>
            <a:br>
              <a:rPr lang="en-US" dirty="0"/>
            </a:br>
            <a:r>
              <a:rPr lang="en-US" dirty="0"/>
              <a:t>Who ever has ever diagrammed an error component separately? Are they generating that many errors?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does the red context border mean? What system does it represent?</a:t>
            </a:r>
            <a:br>
              <a:rPr lang="en-US" dirty="0"/>
            </a:br>
            <a:r>
              <a:rPr lang="en-US" dirty="0"/>
              <a:t>What Technology do you think they are using underneath?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90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More complete diagram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Better labelling, but still incomplete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are those circle with line symbols on top right?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There’s still no title?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What does “A + B = C” mean?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802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525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this is my top 3 reasons for what’s wrong with the previous diagrams</a:t>
            </a:r>
          </a:p>
          <a:p>
            <a:pPr marL="9525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en-ID" b="1" dirty="0">
              <a:solidFill>
                <a:srgbClr val="001B4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9525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5DD"/>
              </a:buClr>
              <a:buSzPts val="1500"/>
              <a:buFont typeface="Arial"/>
              <a:buNone/>
            </a:pP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last item will come as a bit of surprise, but traditionally System Diagrams was only used by Developers. </a:t>
            </a:r>
            <a:b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Why should this be the case, especially in an era where there’s more collaboration between different teams (Product, Business etc) </a:t>
            </a:r>
            <a:b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b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is there  a way to address the above issues?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167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Not this explosive guy … and No, I’m not moonlighting as a North Korean Arms Dealer ….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51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loves UML here? Hands up? No one? Why not? What’s wrong with you lot?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92960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So this is another definition of C4 that might be the easiest to grasp, especially if you’re a visual learner.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&lt;Slide&gt;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Each “Map” shows different level of details and represent different level of abstraction(s)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…..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I noticed last night that the last map has zoomed into Korea Town.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I </a:t>
            </a:r>
            <a:r>
              <a:rPr lang="en-US" dirty="0" err="1"/>
              <a:t>wasn;t</a:t>
            </a:r>
            <a:r>
              <a:rPr lang="en-US" dirty="0"/>
              <a:t> in a late night Karaoke last weekend with Phil Nash, so don’t get any ideas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195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 I’m going to use the an internet banking system as an example.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It’s one I believe that most of the audience might be some what familiar with.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It’s also the same example Simon’s book uses (</a:t>
            </a:r>
            <a:r>
              <a:rPr lang="en-ID" dirty="0" err="1"/>
              <a:t>Plagarism</a:t>
            </a:r>
            <a:r>
              <a:rPr lang="en-ID" dirty="0"/>
              <a:t> alert!)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&lt;Slide&gt;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Don’t worry if you can’t see the details of these slides.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We’ll be taking a closer look shortly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9438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16E4-20CE-4825-089A-76887910A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1D794-8B28-1882-DDFB-78DD099E2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26F87-3096-5D59-B608-952B827AA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/>
              <a:t>		 	 	 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“... so you know what I’m talking about. Perhaps 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Person - Any User that is interacting with your System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Software System -  Can either be your system or external system. External Systems are outside the scope of your own Systems. Systems that you have no responsibility or ownership of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Container - It is not a Docker Container. More on this later.  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Component - A functional unit within the Container, such as modules, set of classes or a set of interfaces. These can’t be deployed independently, unlike a container. </a:t>
            </a:r>
            <a:endParaRPr lang="en-ID" sz="1400" dirty="0">
              <a:solidFill>
                <a:srgbClr val="61616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88B47-276F-44C0-7F67-C56D74027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3706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5B64-4290-E4AA-3B9E-1822AB38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3EBE-F8FA-D287-59EA-CB12CA572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F8046-7DB3-5992-1811-4D72221B2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“... so you know what I’m talking about. Perhaps 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Person - Any User that is interacting with your System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Software System -  Can either be your system or external system. External Systems are outside the scope of your own Systems. Systems that you have no responsibility or ownership of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Container - It is not a Docker Container. More on this later.  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Component - A functional unit within the Container, such as modules, set of classes or a set of interfaces. These can’t be deployed independently, unlike a container. </a:t>
            </a:r>
            <a:endParaRPr lang="en-ID" sz="1400" dirty="0">
              <a:solidFill>
                <a:srgbClr val="61616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00A61-BFA2-8589-9417-AE6E9E819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5664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19202-CC32-1C38-1DBC-21680411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339E6-CDC7-4D63-1877-C792EF680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EE6DC-E898-6004-F50D-CA9208B83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“... so you know what I’m talking about. Perhaps 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Person - Any User that is interacting with your System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Software System -  Can either be your system or external system. External Systems are outside the scope of your own Systems. Systems that you have no responsibility or ownership of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Container - It is not a Docker Container. More on this later.  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Component - A functional unit within the Container, such as modules, set of classes or a set of interfaces. These can’t be deployed independently, unlike a container. </a:t>
            </a:r>
            <a:endParaRPr lang="en-ID" sz="1400" dirty="0">
              <a:solidFill>
                <a:srgbClr val="61616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9CD45-C6FD-FE60-928C-D80839883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6338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3850-9E08-CF87-E7B1-E5812BC7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05915-7ABB-7B5A-1B36-93B41582D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A615E-FA56-32E5-34AB-59DF1625C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“... so you know what I’m talking about. Perhaps 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Person - Any User that is interacting with your System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Software System -  Can either be your system or external system. External Systems are outside the scope of your own Systems. Systems that you have no responsibility or ownership of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Container - It is not a Docker Container. More on this later.  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Component - A functional unit within the Container, such as modules, set of classes or a set of interfaces. These can’t be deployed independently, unlike a container. </a:t>
            </a:r>
            <a:endParaRPr lang="en-ID" sz="1400" dirty="0">
              <a:solidFill>
                <a:srgbClr val="61616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7B621-EA0F-E93A-13DD-BD2C5089F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8962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9B242-BA9B-9262-D959-29A0BAD4A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824F5-4021-199F-E81F-84D25EFEE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7BBD5-C749-891A-2069-6AA219D71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“... so you know what I’m talking about. Perhaps 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Person - Any User that is interacting with your System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Software System -  Can either be your system or external system. External Systems are outside the scope of your own Systems. Systems that you have no responsibility or ownership of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Container - It is not a Docker Container. More on this later.  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Component - A functional unit within the Container, such as modules, set of classes or a set of interfaces. These can’t be deployed independently, unlike a container. </a:t>
            </a:r>
            <a:endParaRPr lang="en-ID" sz="1400" dirty="0">
              <a:solidFill>
                <a:srgbClr val="61616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E2C86-EE29-32CB-AC69-40E4F13BF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102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A lot of these features were missing in lots of places in the diagrams I’ve shown you before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078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37CC-B062-6890-0F68-305259034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0ED86-85AB-2D1E-5759-0499D8F25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5900E-B662-1DFB-6715-6099193FD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Example from the book, imagine we’re the internet banking system team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The example here is to describe your system from a very zoomed out level if you like, and describing you system holistically.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focus is on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People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Software Systems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that your system interacts with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focus is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on technology, protocol and other low level tech details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Perfect place to show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 technical people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open up discussions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DA98D-5D00-CCCA-7943-7DE208D6D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64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2F7F-E3E9-1DDA-7CDA-28CC2438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E639C-87B8-8978-8840-5C51D8FB1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688EF-15D1-9E10-C3F2-EF0BD7705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Example from the book, imagine we’re the internet banking system team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The example here is to describe your system from a very zoomed out level if you like, and describing you system holistically.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focus is on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People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Software Systems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that your system interacts with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focus is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on technology, protocol and other low level tech details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ibre Franklin"/>
              <a:buChar char="●"/>
            </a:pP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Perfect place to show </a:t>
            </a:r>
            <a:r>
              <a:rPr lang="en-ID" b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 technical people</a:t>
            </a:r>
            <a:r>
              <a:rPr lang="en-ID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open up discussions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52C63-3837-2546-D27A-1C40A04B8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780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9C5B5-FC15-7C2C-73AC-E9D69550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7B787-226B-9C36-6E21-6CFA27870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74152-B5D4-3AA5-23D9-78EDACD4D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&lt;Slide&gt;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Is there any non technical people out there who didn’t understand this diagram?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That last 2 points is something I’ve come across a lot </a:t>
            </a:r>
            <a:br>
              <a:rPr lang="en-ID" dirty="0"/>
            </a:b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EB336-628E-B266-997F-C3D60E701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529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9BD24-1A3A-033D-5136-87BD64CC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8FF3A-B636-0480-BBC0-63E200846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61C9F-D3FE-E2BC-84DA-13A4C9AD0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Simon Brown claims he started using Container () before Docker was invented ().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Even though Container is now more associated with Docker, he refuses to budge.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 have to agree with him on this one.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(I have your back, Simon!)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the increase in detail here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For example the Person now has a lot more arrows describing the different interactions with different containers within the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C1BA1-42C5-EDCE-4CDF-B8F24AC99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0300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0915-0DA9-B368-078A-65A31763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EA753-E85B-D916-9DF3-3FF919FBB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EE71E-4D7E-B3E7-1CCD-35E9B93ED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As you drilldown, you’ll notice it starts to get a little bit more technology focused.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 may be of use to non IT/engineering people who knows a lot about technology (Basically your technical BAs/</a:t>
            </a:r>
            <a:r>
              <a:rPr lang="en-ID" dirty="0" err="1"/>
              <a:t>Producrt</a:t>
            </a:r>
            <a:r>
              <a:rPr lang="en-ID" dirty="0"/>
              <a:t> managers etc)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Simon Brown claims he started using Container () before Docker was invented ().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Even though Container is now more associated with Docker, he refuses to budge.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 have to agree with him on this one.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(I have your back, Simon!)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the increase in detail here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For example the Person now has a lot more arrows describing the different interactions with different containers within the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6563-AAB8-AA98-C51B-C77A6CC8F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745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5CBA-5640-3835-137C-6A141E63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54BC5-99A7-7095-110A-FEAA42BC5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2D2BF-C559-4FF7-720E-36EB5E3B2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Now drilldown into the API Application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A "container" is something like a web application, mobile app, desktop application, database, file system, etc. Essentially, a container is a separately deployable unit that executes code or stores data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Simon Brown stared using Container () before Docker was invented ()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the increase in detail here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For example the Person now has a lot more arrows describing the different interactions with different containers within the system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Simon Brown claims he started using Container () before Docker was invented ().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Even though Container is now more associated with Docker, he refuses to budge.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 have to agree with him on this one.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(I have your back, Simon!)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Note the increase in detail here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For example the Person now has a lot more arrows describing the different interactions with different containers within the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3B0FC-1E3D-AD57-FE98-6123D6F0E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544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C67E-AD9D-EECF-467A-0552629C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E25B0-B6C9-E106-326E-C3DDDE74A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74719-DDF3-9E67-AC40-45E715AB7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Component definition -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A functional unit within the Container, such as modules, set of classes or a set of interfaces. These can’t be deployed independently, unlike a container.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This is what people usually draw when they’re asked to draw a System Diagram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D" dirty="0">
                <a:solidFill>
                  <a:schemeClr val="dk1"/>
                </a:solidFill>
              </a:rPr>
              <a:t>						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Name: The name of the component.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D" dirty="0">
                <a:solidFill>
                  <a:schemeClr val="dk1"/>
                </a:solidFill>
              </a:rPr>
              <a:t>						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Technology: The implementation technology for the component (e.g. Plain Old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[</a:t>
            </a:r>
            <a:r>
              <a:rPr lang="en-ID" dirty="0" err="1">
                <a:solidFill>
                  <a:schemeClr val="dk1"/>
                </a:solidFill>
              </a:rPr>
              <a:t>Java|C</a:t>
            </a:r>
            <a:r>
              <a:rPr lang="en-ID" dirty="0">
                <a:solidFill>
                  <a:schemeClr val="dk1"/>
                </a:solidFill>
              </a:rPr>
              <a:t>#|</a:t>
            </a:r>
            <a:r>
              <a:rPr lang="en-ID" dirty="0" err="1">
                <a:solidFill>
                  <a:schemeClr val="dk1"/>
                </a:solidFill>
              </a:rPr>
              <a:t>Ruby|etc</a:t>
            </a:r>
            <a:r>
              <a:rPr lang="en-ID" dirty="0">
                <a:solidFill>
                  <a:schemeClr val="dk1"/>
                </a:solidFill>
              </a:rPr>
              <a:t>] Object, Enterprise JavaBean, Windows Communication Founda-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 err="1">
                <a:solidFill>
                  <a:schemeClr val="dk1"/>
                </a:solidFill>
              </a:rPr>
              <a:t>tion</a:t>
            </a:r>
            <a:r>
              <a:rPr lang="en-ID" dirty="0">
                <a:solidFill>
                  <a:schemeClr val="dk1"/>
                </a:solidFill>
              </a:rPr>
              <a:t> service, etc).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D" dirty="0">
                <a:solidFill>
                  <a:schemeClr val="dk1"/>
                </a:solidFill>
              </a:rPr>
              <a:t>						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Description:Ashortdescriptionofthecomponent,usuallyabriefsentencedescribing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the component’s responsibilities. 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					 		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	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sz="1400" dirty="0">
              <a:solidFill>
                <a:srgbClr val="6161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400" dirty="0">
                <a:solidFill>
                  <a:srgbClr val="616161"/>
                </a:solidFill>
              </a:rPr>
              <a:t>Abstraction element representing the internals of the container of such modules or a set of interfaces that can be grouped as a functional unit. In Java or C# terms, they can be seen as a set of classes implemented for interfaces or packages. They differ from containers as these cannot be deployed independently.</a:t>
            </a:r>
          </a:p>
          <a:p>
            <a:pPr marL="457200" lvl="0" indent="-304800" algn="l" rtl="0">
              <a:lnSpc>
                <a:spcPct val="175000"/>
              </a:lnSpc>
              <a:spcBef>
                <a:spcPts val="42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●"/>
            </a:pPr>
            <a:endParaRPr lang="en-ID" sz="1400" dirty="0">
              <a:solidFill>
                <a:srgbClr val="6161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68722-6050-CC4D-CFBA-A9E2C86C8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0830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B2DF-5C1B-AFA1-CABA-C1FCB40F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EB322-ADF0-4BA3-4889-AE2748CE4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A90C9-D32E-F5BA-1F5B-C84607FE6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L3 is where you’re decomposing some of your containers to the component level (major building blocks if you like of your application)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We’re seeing some of the interactions </a:t>
            </a:r>
            <a:r>
              <a:rPr lang="en-ID" dirty="0" err="1"/>
              <a:t>amd</a:t>
            </a:r>
            <a:r>
              <a:rPr lang="en-ID" dirty="0"/>
              <a:t> dependencies on it.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If there’s a good mapping between the component and code for example, then you have a really good starting point for newbies to understand the structure of your codebase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				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			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		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B9CA8-ED70-4AB1-3975-F54F3B73B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5498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1765-FF86-E60F-C9C3-92406BFA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C770B-7FD7-8026-86E2-01E45522E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CA33A-F6A6-1420-C3A2-9106C9CF3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L3 is where you’re decomposing some of your containers to the component level (major building blocks if you like of your application)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We’re seeing some of the interactions </a:t>
            </a:r>
            <a:r>
              <a:rPr lang="en-ID" dirty="0" err="1"/>
              <a:t>amd</a:t>
            </a:r>
            <a:r>
              <a:rPr lang="en-ID" dirty="0"/>
              <a:t> dependencies on it.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If there’s a good mapping between the component and code for example, then you have a really good starting point for newbies to understand the structure of your codebase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89848-87FD-EFD6-471B-EE96C4A4C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742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81B2-FA1E-B693-54C2-77A831707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35039-A189-4423-32BE-0B6B329A2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D820F-A6E1-77EB-8F24-DCD8BC6A8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Drilling into the Mainframe banking System Facade</a:t>
            </a:r>
            <a:br>
              <a:rPr lang="en-ID" dirty="0"/>
            </a:br>
            <a:br>
              <a:rPr lang="en-ID" dirty="0"/>
            </a:br>
            <a:r>
              <a:rPr lang="en-ID" dirty="0"/>
              <a:t>Component definition -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A functional unit within the Container, such as modules, set of classes or a set of interfaces. These can’t be deployed independently, unlike a container.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This is what people usually draw when they’re asked to draw a System Diagram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D" dirty="0">
                <a:solidFill>
                  <a:schemeClr val="dk1"/>
                </a:solidFill>
              </a:rPr>
              <a:t>						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Name: The name of the component.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D" dirty="0">
                <a:solidFill>
                  <a:schemeClr val="dk1"/>
                </a:solidFill>
              </a:rPr>
              <a:t>						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Technology: The implementation technology for the component (e.g. Plain Old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[</a:t>
            </a:r>
            <a:r>
              <a:rPr lang="en-ID" dirty="0" err="1">
                <a:solidFill>
                  <a:schemeClr val="dk1"/>
                </a:solidFill>
              </a:rPr>
              <a:t>Java|C</a:t>
            </a:r>
            <a:r>
              <a:rPr lang="en-ID" dirty="0">
                <a:solidFill>
                  <a:schemeClr val="dk1"/>
                </a:solidFill>
              </a:rPr>
              <a:t>#|</a:t>
            </a:r>
            <a:r>
              <a:rPr lang="en-ID" dirty="0" err="1">
                <a:solidFill>
                  <a:schemeClr val="dk1"/>
                </a:solidFill>
              </a:rPr>
              <a:t>Ruby|etc</a:t>
            </a:r>
            <a:r>
              <a:rPr lang="en-ID" dirty="0">
                <a:solidFill>
                  <a:schemeClr val="dk1"/>
                </a:solidFill>
              </a:rPr>
              <a:t>] Object, Enterprise JavaBean, Windows Communication Founda-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 err="1">
                <a:solidFill>
                  <a:schemeClr val="dk1"/>
                </a:solidFill>
              </a:rPr>
              <a:t>tion</a:t>
            </a:r>
            <a:r>
              <a:rPr lang="en-ID" dirty="0">
                <a:solidFill>
                  <a:schemeClr val="dk1"/>
                </a:solidFill>
              </a:rPr>
              <a:t> service, etc).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D" dirty="0">
                <a:solidFill>
                  <a:schemeClr val="dk1"/>
                </a:solidFill>
              </a:rPr>
              <a:t>						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Description:Ashortdescriptionofthecomponent,usuallyabriefsentencedescribing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	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the component’s responsibilities. </a:t>
            </a:r>
            <a:br>
              <a:rPr lang="en-ID" dirty="0">
                <a:solidFill>
                  <a:schemeClr val="dk1"/>
                </a:solidFill>
              </a:rPr>
            </a:br>
            <a:r>
              <a:rPr lang="en-ID" dirty="0">
                <a:solidFill>
                  <a:schemeClr val="dk1"/>
                </a:solidFill>
              </a:rPr>
              <a:t> 				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					 		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	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D" dirty="0">
                <a:solidFill>
                  <a:schemeClr val="dk1"/>
                </a:solidFill>
              </a:rPr>
              <a:t>		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sz="1400" dirty="0">
              <a:solidFill>
                <a:srgbClr val="6161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sz="1400" dirty="0">
                <a:solidFill>
                  <a:srgbClr val="616161"/>
                </a:solidFill>
              </a:rPr>
              <a:t>Abstraction element representing the internals of the container of such modules or a set of interfaces that can be grouped as a functional unit. In Java or C# terms, they can be seen as a set of classes implemented for interfaces or packages. They differ from containers as these cannot be deployed independently.</a:t>
            </a:r>
          </a:p>
          <a:p>
            <a:pPr marL="457200" lvl="0" indent="-304800" algn="l" rtl="0">
              <a:lnSpc>
                <a:spcPct val="175000"/>
              </a:lnSpc>
              <a:spcBef>
                <a:spcPts val="4200"/>
              </a:spcBef>
              <a:spcAft>
                <a:spcPts val="0"/>
              </a:spcAft>
              <a:buClr>
                <a:srgbClr val="616161"/>
              </a:buClr>
              <a:buSzPts val="1200"/>
              <a:buChar char="●"/>
            </a:pPr>
            <a:endParaRPr lang="en-ID" sz="1400" dirty="0">
              <a:solidFill>
                <a:srgbClr val="6161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SzPts val="1100"/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B03FD-44E1-203D-9DED-A7E1B8984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646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3B5CE-6C47-E5EB-A3D7-77AE19D2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B4D79-7ECC-19D3-006F-3EC10730E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FB794-E9F0-3174-56F4-47D7BA6DC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 earlier, I may have taken the piss out of UML, and that should have been a hint of things to come as …..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For L4, Simon actually didn’t invent anything for L4, the code level.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He recommends using traditional methods as such as UML or Class Diagrams.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Also he recommends using a tool rather than hand generating it :)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Is it just me or are you feeling a little bit ripped off here, bit of bait and switch going on.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Perhaps I should start a lobby saying this should be called C3+1 or C3 + U or C3 + UML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(Maybe I </a:t>
            </a:r>
            <a:r>
              <a:rPr lang="en-ID" dirty="0" err="1"/>
              <a:t>dont</a:t>
            </a:r>
            <a:r>
              <a:rPr lang="en-ID" dirty="0"/>
              <a:t> have your back on this part, Simon!)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41862-8CC3-D61D-BA6D-AB1B63FB8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0439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CA59-FCF2-660D-4EC4-E4036696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0EC3D-397D-BE68-0C60-F76FFEE4B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13492-AB12-0450-5927-7EB0C340B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en-ID" dirty="0"/>
              <a:t>So I just mentioned tools, which leads us to the next section ….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A1511-4CEB-A90D-7D22-F0D321EFE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175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FC6CD-0123-0192-75D8-CAAEB2BF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CA1F8-1265-7AD9-EC3B-48BAFF369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667CB-E3C9-428E-078E-33E0B5B7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“For the love of god ….. please don’t use Visio to draw C4 diagrams”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4081C-C4E9-107D-0C25-DAC2DBC37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533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54900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CC705-8571-F434-9EE4-023281767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70513-0C4C-A7F6-4373-EBCEEBC58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A25A4-4DC6-D970-3526-3FC90273C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 I’m going to use the an internet banking system as an example.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It’s one I believe that most of the audience might be some what familiar with.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It’s also the same example Simon’s book uses (</a:t>
            </a:r>
            <a:r>
              <a:rPr lang="en-ID" dirty="0" err="1"/>
              <a:t>Plagarism</a:t>
            </a:r>
            <a:r>
              <a:rPr lang="en-ID" dirty="0"/>
              <a:t> alert!)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&lt;Slide&gt;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Don’t worry if you can’t see the details of these slides.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We’ll be taking a closer look shortly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26A2D-9B8C-9AF8-5316-E9616F8E6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91284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C72B-D12F-A283-DAA2-43D6C8DE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55AFF-E3D8-0886-24AB-A0C561706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F7D53-61C0-6CA6-56BC-480C0F4DB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 err="1"/>
              <a:t>PlantUML</a:t>
            </a:r>
            <a:r>
              <a:rPr lang="en-ID" dirty="0"/>
              <a:t> and </a:t>
            </a:r>
            <a:r>
              <a:rPr lang="en-ID" dirty="0" err="1"/>
              <a:t>Structurizr</a:t>
            </a:r>
            <a:r>
              <a:rPr lang="en-ID" dirty="0"/>
              <a:t> - Semantic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B4829-EDBF-AAE5-0746-A11DC0409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97894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2359-1887-9ECB-2A21-FAEE0CF5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BECD9-C7A8-6EC7-9E81-E1F05D510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E79FA-778D-0AD3-C134-AEFAF35C9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FCADF-F311-F857-67DD-A8B21022B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79763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A7D14-70DB-133B-E008-509D4DD0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8717A-B87A-883A-3570-25207B342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C419C-CF18-C8FA-B641-A74E72999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525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Really no tool out there treats C4 model as a first class citizen. And it’s still free.</a:t>
            </a:r>
            <a:b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b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Some additional features that’s been added since I last evaluated</a:t>
            </a:r>
          </a:p>
          <a:p>
            <a:pPr marL="9525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Ability to reverse engineer Java Code</a:t>
            </a:r>
          </a:p>
          <a:p>
            <a:pPr marL="9525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ID" b="1" dirty="0">
                <a:solidFill>
                  <a:srgbClr val="001B4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Using it to publish ADRs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0552B-1174-4F92-54C0-CA5A0D180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07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E4656-F895-16E8-83E3-A3DD44D5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E534-5633-A87C-8442-E52C6D3FD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5392B-EFD0-F761-62A5-335ABAE73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D645E-E5A0-6BC6-36F6-D471B14F5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5794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B47F-261D-D904-7505-AA735ED8D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DFBE1-92F6-5F74-00EF-55CFD711B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64464-D870-376D-5F2C-E4A3820F3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SO I’m going to use the an internet banking system as an example.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It’s one I believe that most of the audience might be some what familiar with.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It’s also the same example Simon’s book uses (</a:t>
            </a:r>
            <a:r>
              <a:rPr lang="en-ID" dirty="0" err="1"/>
              <a:t>Plagarism</a:t>
            </a:r>
            <a:r>
              <a:rPr lang="en-ID" dirty="0"/>
              <a:t> alert!)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&lt;Slide&gt;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ID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Don’t worry if you can’t see the details of these slides.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D" dirty="0"/>
              <a:t>We’ll be taking a closer look shortly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E601F-CC2C-CB4E-83FA-56E82E668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4435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FBE8-6E1B-7AE7-F4A4-DFCD7D419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0945E-6AC0-E5E2-B131-92189EB45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81FCF3-1271-DF56-8FB8-05A517CD0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2A0DC-5207-0003-1236-DAE05C288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E93AF-F07C-4A19-877F-17B5970098E7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387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2.svg"/><Relationship Id="rId4" Type="http://schemas.openxmlformats.org/officeDocument/2006/relationships/image" Target="../media/image8.svg"/><Relationship Id="rId9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5.svg"/><Relationship Id="rId4" Type="http://schemas.openxmlformats.org/officeDocument/2006/relationships/image" Target="../media/image14.svg"/><Relationship Id="rId9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network&#10;&#10;Description automatically generated">
            <a:extLst>
              <a:ext uri="{FF2B5EF4-FFF2-40B4-BE49-F238E27FC236}">
                <a16:creationId xmlns:a16="http://schemas.microsoft.com/office/drawing/2014/main" id="{368B40E9-7C17-716E-9815-5AF22BD866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CDDDFD-BA75-496B-8DCD-664A54AFB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6" y="2001839"/>
            <a:ext cx="6505576" cy="1278994"/>
          </a:xfrm>
        </p:spPr>
        <p:txBody>
          <a:bodyPr anchor="b"/>
          <a:lstStyle>
            <a:lvl1pPr algn="l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F5E89-77D6-490C-B510-3463F3257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726" y="3429000"/>
            <a:ext cx="6505576" cy="9286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D9E58-2D0A-4523-AC8F-94B6FF0DE1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6" y="4749800"/>
            <a:ext cx="2705100" cy="260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Insert speaker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A0A4375-A9D3-4A69-A320-F800660B4E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6726" y="5043487"/>
            <a:ext cx="2705100" cy="26035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Speaker position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6C932B-F0EA-4F51-A1C2-82ACCD56C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6" y="5337175"/>
            <a:ext cx="2705100" cy="26035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46C135-87EB-543B-FF70-714DD7FAA6C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7AF6B0-5804-29D9-42D1-154473A2116A}"/>
              </a:ext>
            </a:extLst>
          </p:cNvPr>
          <p:cNvCxnSpPr>
            <a:cxnSpLocks/>
          </p:cNvCxnSpPr>
          <p:nvPr userDrawn="1"/>
        </p:nvCxnSpPr>
        <p:spPr>
          <a:xfrm>
            <a:off x="466725" y="632532"/>
            <a:ext cx="10529826" cy="7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90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network&#10;&#10;Description automatically generated">
            <a:extLst>
              <a:ext uri="{FF2B5EF4-FFF2-40B4-BE49-F238E27FC236}">
                <a16:creationId xmlns:a16="http://schemas.microsoft.com/office/drawing/2014/main" id="{F3292490-6334-B275-94CC-E8D3A89EE1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2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CDDDFD-BA75-496B-8DCD-664A54AFB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6" y="2001839"/>
            <a:ext cx="6505576" cy="1278994"/>
          </a:xfrm>
        </p:spPr>
        <p:txBody>
          <a:bodyPr anchor="b"/>
          <a:lstStyle>
            <a:lvl1pPr algn="l">
              <a:lnSpc>
                <a:spcPct val="10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F5E89-77D6-490C-B510-3463F3257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726" y="3429000"/>
            <a:ext cx="6505576" cy="9286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D9E58-2D0A-4523-AC8F-94B6FF0DE1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6" y="4749800"/>
            <a:ext cx="2705100" cy="2603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Insert speaker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A0A4375-A9D3-4A69-A320-F800660B4E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6726" y="5043487"/>
            <a:ext cx="2705100" cy="2603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Speaker position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6C932B-F0EA-4F51-A1C2-82ACCD56C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6726" y="5337175"/>
            <a:ext cx="2705100" cy="2603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1C8EEFA-DDDE-057C-F1DE-1034F8F3BB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5679" y="424458"/>
            <a:ext cx="574993" cy="21066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418AE8-6762-28EA-BA86-52183C4D458C}"/>
              </a:ext>
            </a:extLst>
          </p:cNvPr>
          <p:cNvCxnSpPr>
            <a:cxnSpLocks/>
          </p:cNvCxnSpPr>
          <p:nvPr userDrawn="1"/>
        </p:nvCxnSpPr>
        <p:spPr>
          <a:xfrm>
            <a:off x="466725" y="632532"/>
            <a:ext cx="10529826" cy="7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61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network&#10;&#10;Description automatically generated">
            <a:extLst>
              <a:ext uri="{FF2B5EF4-FFF2-40B4-BE49-F238E27FC236}">
                <a16:creationId xmlns:a16="http://schemas.microsoft.com/office/drawing/2014/main" id="{A21718FB-2C21-5BB2-47BE-DD124B351A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6FAB14-B26B-4C16-A696-8BB9FFF3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2393950"/>
            <a:ext cx="5556249" cy="15716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CED20-BFFA-4AE9-97CA-510F8E64F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4046811"/>
            <a:ext cx="5556250" cy="10966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60675-C9A0-49C5-999B-BF146B1A8E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1849672"/>
            <a:ext cx="625475" cy="465543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0X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7EC7F18-6501-A09E-F4EF-7131766804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A4EA9E-D9A2-496D-755F-8D879F8C51CC}"/>
              </a:ext>
            </a:extLst>
          </p:cNvPr>
          <p:cNvCxnSpPr>
            <a:cxnSpLocks/>
          </p:cNvCxnSpPr>
          <p:nvPr userDrawn="1"/>
        </p:nvCxnSpPr>
        <p:spPr>
          <a:xfrm>
            <a:off x="466725" y="632532"/>
            <a:ext cx="10529826" cy="7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83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network&#10;&#10;Description automatically generated">
            <a:extLst>
              <a:ext uri="{FF2B5EF4-FFF2-40B4-BE49-F238E27FC236}">
                <a16:creationId xmlns:a16="http://schemas.microsoft.com/office/drawing/2014/main" id="{ED667EF9-2B17-BD7A-9C44-F5767669D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58" y="-158908"/>
            <a:ext cx="12474503" cy="701690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2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6FAB14-B26B-4C16-A696-8BB9FFF3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2393950"/>
            <a:ext cx="5556249" cy="15716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>
                <a:solidFill>
                  <a:srgbClr val="334D5E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CED20-BFFA-4AE9-97CA-510F8E64F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4046811"/>
            <a:ext cx="5556250" cy="10966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60675-C9A0-49C5-999B-BF146B1A8E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725" y="1849209"/>
            <a:ext cx="625475" cy="465543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0X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6AD443-A56E-C73C-5967-1BDC9153F9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5679" y="424458"/>
            <a:ext cx="574993" cy="21066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5C1360-2F03-5E27-302A-12D52711ED17}"/>
              </a:ext>
            </a:extLst>
          </p:cNvPr>
          <p:cNvCxnSpPr>
            <a:cxnSpLocks/>
          </p:cNvCxnSpPr>
          <p:nvPr userDrawn="1"/>
        </p:nvCxnSpPr>
        <p:spPr>
          <a:xfrm>
            <a:off x="466725" y="632532"/>
            <a:ext cx="10529826" cy="7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56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0C3B71-256E-4FCD-8A2D-460028ACA430}"/>
              </a:ext>
            </a:extLst>
          </p:cNvPr>
          <p:cNvSpPr/>
          <p:nvPr userDrawn="1"/>
        </p:nvSpPr>
        <p:spPr>
          <a:xfrm flipH="1">
            <a:off x="0" y="0"/>
            <a:ext cx="412273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823913"/>
            <a:ext cx="3150233" cy="7858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6" y="1609725"/>
            <a:ext cx="3150233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66D29F9-BA78-40B1-AFF2-21DEE930070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6726" y="2393950"/>
            <a:ext cx="3150234" cy="353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FCE23B7-1910-4D80-8BA4-E500C9F03A2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653280" y="1609725"/>
            <a:ext cx="7070408" cy="431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861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0C3B71-256E-4FCD-8A2D-460028ACA430}"/>
              </a:ext>
            </a:extLst>
          </p:cNvPr>
          <p:cNvSpPr/>
          <p:nvPr userDrawn="1"/>
        </p:nvSpPr>
        <p:spPr>
          <a:xfrm flipH="1">
            <a:off x="4122738" y="0"/>
            <a:ext cx="806926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823913"/>
            <a:ext cx="3150233" cy="78581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6" y="1609725"/>
            <a:ext cx="3150233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66D29F9-BA78-40B1-AFF2-21DEE930070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6726" y="2393950"/>
            <a:ext cx="3150234" cy="353377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FCE23B7-1910-4D80-8BA4-E500C9F03A2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653280" y="1609725"/>
            <a:ext cx="7070408" cy="431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DDF2FD-0892-497F-A4FC-03C717D2C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40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0C3B71-256E-4FCD-8A2D-460028ACA430}"/>
              </a:ext>
            </a:extLst>
          </p:cNvPr>
          <p:cNvSpPr/>
          <p:nvPr userDrawn="1"/>
        </p:nvSpPr>
        <p:spPr>
          <a:xfrm flipH="1">
            <a:off x="0" y="0"/>
            <a:ext cx="412273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52" y="2806700"/>
            <a:ext cx="3150233" cy="2928280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FCE23B7-1910-4D80-8BA4-E500C9F03A2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653280" y="1609725"/>
            <a:ext cx="7070408" cy="431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2340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0C3B71-256E-4FCD-8A2D-460028ACA430}"/>
              </a:ext>
            </a:extLst>
          </p:cNvPr>
          <p:cNvSpPr/>
          <p:nvPr userDrawn="1"/>
        </p:nvSpPr>
        <p:spPr>
          <a:xfrm flipH="1">
            <a:off x="4122738" y="0"/>
            <a:ext cx="806926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FCE23B7-1910-4D80-8BA4-E500C9F03A2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653280" y="1609725"/>
            <a:ext cx="7070408" cy="431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9E3E0E4-3D9D-503F-E66D-245EC2E5B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79" y="424458"/>
            <a:ext cx="574993" cy="2106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A299D09-AB72-1A7A-A0A0-8EA3B142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52" y="2806700"/>
            <a:ext cx="3150233" cy="2928280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3910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31139-8CEF-4ED4-8853-7CAAF6B9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4318-1880-4692-AA75-0A2473486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7BFFE0-EB8C-47FB-9B83-93BAEEC739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17154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Loze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CA60E1-0DC5-D9C1-8428-9898CA250A97}"/>
              </a:ext>
            </a:extLst>
          </p:cNvPr>
          <p:cNvSpPr/>
          <p:nvPr userDrawn="1"/>
        </p:nvSpPr>
        <p:spPr>
          <a:xfrm>
            <a:off x="466724" y="1609725"/>
            <a:ext cx="11256963" cy="471011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1200"/>
              </a:spcAft>
            </a:pPr>
            <a:endParaRPr lang="en-US" sz="1400" dirty="0" err="1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31139-8CEF-4ED4-8853-7CAAF6B9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14318-1880-4692-AA75-0A247348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2001520"/>
            <a:ext cx="10310814" cy="3926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7BFFE0-EB8C-47FB-9B83-93BAEEC739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22483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BDF3-FA81-451A-BC76-E8E451EB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3F19-6308-4981-B83A-A7D46A1AE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2230120"/>
            <a:ext cx="5303305" cy="40897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5D1E0-DB88-411A-89AA-38AD17EA8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0382" y="2230120"/>
            <a:ext cx="5303305" cy="40897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EE9D2F-25B3-4362-A887-CAC25B2C3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0D4A4B4-0282-4517-870F-70A105DC8E8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66725" y="1619250"/>
            <a:ext cx="5304894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047DF04-3D15-41BE-88C0-459746FF5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0383" y="1619250"/>
            <a:ext cx="5300348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873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_Loze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E86EC3-8019-E53C-F450-4F2096644CCA}"/>
              </a:ext>
            </a:extLst>
          </p:cNvPr>
          <p:cNvSpPr/>
          <p:nvPr userDrawn="1"/>
        </p:nvSpPr>
        <p:spPr>
          <a:xfrm>
            <a:off x="6167436" y="1609725"/>
            <a:ext cx="5556251" cy="471011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1200"/>
              </a:spcAft>
            </a:pPr>
            <a:endParaRPr lang="en-US" sz="1400" dirty="0" err="1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3F19-6308-4981-B83A-A7D46A1AE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726" y="2616200"/>
            <a:ext cx="5084762" cy="33118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5D1E0-DB88-411A-89AA-38AD17EA8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0600" y="2616200"/>
            <a:ext cx="4611600" cy="331184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EE9D2F-25B3-4362-A887-CAC25B2C3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6" y="834072"/>
            <a:ext cx="9356724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BB45499-F705-49AF-A9EE-BAC8C276D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7E936F2-7831-4868-812F-22209B30EA4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66725" y="2011362"/>
            <a:ext cx="5084762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9FE7C48-D84E-481C-A8DF-43E32B4E8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0600" y="2011362"/>
            <a:ext cx="4611600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595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BDF3-FA81-451A-BC76-E8E451EB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3F19-6308-4981-B83A-A7D46A1AE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2230120"/>
            <a:ext cx="3654425" cy="40897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5D1E0-DB88-411A-89AA-38AD17EA8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8789" y="2230120"/>
            <a:ext cx="3654425" cy="40897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EE9D2F-25B3-4362-A887-CAC25B2C3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C194A9D-3AF9-4D63-82FD-8A7D8074681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069263" y="2230120"/>
            <a:ext cx="3654425" cy="40897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5B5D16D-B213-4C5B-89C0-9062DE8E26BC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66725" y="1619250"/>
            <a:ext cx="3656013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C4E6738-814A-439C-934F-43CBCD912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70334" y="1619250"/>
            <a:ext cx="3652880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D840144-13DB-41B9-B3C8-A108582BA5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69263" y="1619250"/>
            <a:ext cx="3652880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940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_Loze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001397-D2C0-7E55-86EA-A1765FC7DE8E}"/>
              </a:ext>
            </a:extLst>
          </p:cNvPr>
          <p:cNvSpPr/>
          <p:nvPr userDrawn="1"/>
        </p:nvSpPr>
        <p:spPr>
          <a:xfrm>
            <a:off x="8069265" y="1609725"/>
            <a:ext cx="3654422" cy="471011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1200"/>
              </a:spcAft>
            </a:pPr>
            <a:endParaRPr lang="en-US" sz="1400" dirty="0" err="1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8BDF3-FA81-451A-BC76-E8E451EB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3F19-6308-4981-B83A-A7D46A1AE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2631760"/>
            <a:ext cx="3442971" cy="329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5D1E0-DB88-411A-89AA-38AD17EA8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8789" y="2631760"/>
            <a:ext cx="3442971" cy="329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EE9D2F-25B3-4362-A887-CAC25B2C3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C194A9D-3AF9-4D63-82FD-8A7D8074681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412481" y="2631440"/>
            <a:ext cx="2967990" cy="32915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D0F7360-2F35-4113-836D-575E80C5A0C3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66726" y="2000566"/>
            <a:ext cx="3444378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CCF1D32-A68D-4128-A3E6-A434FA5DF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70334" y="2000566"/>
            <a:ext cx="3441426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F6FD7A0-EEA3-44D5-BD21-2B671F65D3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12481" y="2001838"/>
            <a:ext cx="2967990" cy="39211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7582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BDF3-FA81-451A-BC76-E8E451EB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23F19-6308-4981-B83A-A7D46A1AE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4" y="2393950"/>
            <a:ext cx="2514600" cy="3925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E5D1E0-DB88-411A-89AA-38AD17EA8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17876" y="2393950"/>
            <a:ext cx="2514600" cy="3925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EE9D2F-25B3-4362-A887-CAC25B2C3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0C194A9D-3AF9-4D63-82FD-8A7D80746818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167438" y="2393950"/>
            <a:ext cx="2514600" cy="3925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7BFAA3B-449D-4867-998A-0E4A705632B8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9017000" y="2393950"/>
            <a:ext cx="2514600" cy="3925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070CA57-6387-4F06-A344-34BB0C10571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66726" y="1619250"/>
            <a:ext cx="2516076" cy="62103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BE385C9-4D8C-485A-B51E-6C6BAE255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18608" y="1619250"/>
            <a:ext cx="2513920" cy="62103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2481009-B610-4C03-918A-A13BDA2550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8170" y="1619250"/>
            <a:ext cx="2513920" cy="62103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74503B5-47CA-471D-A96C-EE0188E149B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17001" y="1619250"/>
            <a:ext cx="2513920" cy="62103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7962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553938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32103E7-D03A-4AC9-B0D8-8C22BE5B2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98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512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29205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D68089F-4850-46AA-901A-252039E1811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784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4231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F4656D0E-8E56-4CD0-83E8-1BC0FAE3B03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82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9A600E95-262A-44A0-8F60-FD2DBB1D43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302" y="2792730"/>
            <a:ext cx="2756216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47701446-1729-451C-B54C-4842621474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302" y="3373121"/>
            <a:ext cx="2756216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ECC7D563-DDBF-40E6-8AA9-6F052DFE83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51363" y="2792730"/>
            <a:ext cx="2756216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AA683DA-072A-4D8B-A543-B4DCAC676C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51363" y="3373121"/>
            <a:ext cx="2756216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3149FCD-E2B7-499D-95A1-1481AFF9AE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33424" y="2792730"/>
            <a:ext cx="2756216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1046E740-D284-499D-BABF-90CE72D622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3424" y="3373121"/>
            <a:ext cx="2756216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8969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8BEB8E4-B752-44FC-BAAD-1368CD27C6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302" y="2792730"/>
            <a:ext cx="2207577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039FFF0-A9E8-49F6-89D6-8DEE24852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9302" y="3373121"/>
            <a:ext cx="2207577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85D55125-CFE5-403F-B8B7-2B2248B098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1403" y="2792730"/>
            <a:ext cx="2207577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EAAC1AED-20DF-4792-AFD5-F537F8525B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01403" y="3373121"/>
            <a:ext cx="2207577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EE9C2BC9-FA53-47E7-B7A2-0C3F8B3C2B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67370" y="2792730"/>
            <a:ext cx="2207577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B2FE24DF-EAC9-406D-B361-FB32DB0392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467370" y="3373121"/>
            <a:ext cx="2207577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A55D403-19E5-46F5-BF63-8B9D2D78C8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99471" y="2792730"/>
            <a:ext cx="2207577" cy="382587"/>
          </a:xfrm>
        </p:spPr>
        <p:txBody>
          <a:bodyPr>
            <a:noAutofit/>
          </a:bodyPr>
          <a:lstStyle>
            <a:lvl1pPr>
              <a:defRPr sz="2000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Icon text here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C2E21046-8FAA-4BE7-B284-15CAE1DA0E1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99471" y="3373121"/>
            <a:ext cx="2207577" cy="1770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3448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102F75-B39C-4956-ACB1-54A1075AD1B0}"/>
              </a:ext>
            </a:extLst>
          </p:cNvPr>
          <p:cNvSpPr/>
          <p:nvPr userDrawn="1"/>
        </p:nvSpPr>
        <p:spPr>
          <a:xfrm>
            <a:off x="0" y="-928"/>
            <a:ext cx="12192000" cy="31806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280BC52-E15B-4626-992C-F320A26F82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69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0102F75-B39C-4956-ACB1-54A1075AD1B0}"/>
              </a:ext>
            </a:extLst>
          </p:cNvPr>
          <p:cNvSpPr/>
          <p:nvPr userDrawn="1"/>
        </p:nvSpPr>
        <p:spPr>
          <a:xfrm>
            <a:off x="0" y="5143500"/>
            <a:ext cx="12192000" cy="1714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EBC08-02B9-47F2-AD2F-1ED8611E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9EAD182-E8F9-4F3C-8B5B-20CBBAB128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5" y="833438"/>
            <a:ext cx="9356725" cy="382587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650948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/statem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network&#10;&#10;Description automatically generated">
            <a:extLst>
              <a:ext uri="{FF2B5EF4-FFF2-40B4-BE49-F238E27FC236}">
                <a16:creationId xmlns:a16="http://schemas.microsoft.com/office/drawing/2014/main" id="{9C8BB218-B5E1-49CF-DE81-40D02B0D16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FE1727-EDBC-4A18-A6E9-51E884519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8550" y="2133996"/>
            <a:ext cx="7454900" cy="2748915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4400">
                <a:latin typeface="+mj-lt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5993C5-A8CE-449E-A5E4-F74B55BF9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8550" y="4882912"/>
            <a:ext cx="4131402" cy="616552"/>
          </a:xfrm>
        </p:spPr>
        <p:txBody>
          <a:bodyPr anchor="t" anchorCtr="0">
            <a:norm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quote source text here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3D7DE2D-67E6-41F9-B3D9-11FDA523F2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5679" y="424458"/>
            <a:ext cx="574993" cy="21066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18404C-0D85-F179-CD36-1F0AE16CD0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  <p:pic>
        <p:nvPicPr>
          <p:cNvPr id="3" name="Picture 2" descr="A picture containing clipart&#10;&#10;Description automatically generated">
            <a:extLst>
              <a:ext uri="{FF2B5EF4-FFF2-40B4-BE49-F238E27FC236}">
                <a16:creationId xmlns:a16="http://schemas.microsoft.com/office/drawing/2014/main" id="{C28BB54F-ED92-2CA4-5777-7EAD3AC0D2A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50" y="1489167"/>
            <a:ext cx="551602" cy="4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401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/statem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network&#10;&#10;Description automatically generated">
            <a:extLst>
              <a:ext uri="{FF2B5EF4-FFF2-40B4-BE49-F238E27FC236}">
                <a16:creationId xmlns:a16="http://schemas.microsoft.com/office/drawing/2014/main" id="{644F3C04-765D-9071-00F8-6916A1D1CC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150" y="-569627"/>
            <a:ext cx="12474503" cy="701690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2"/>
            </a:outerShdw>
          </a:effec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FE1727-EDBC-4A18-A6E9-51E884519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8550" y="2133996"/>
            <a:ext cx="7454900" cy="2748915"/>
          </a:xfrm>
        </p:spPr>
        <p:txBody>
          <a:bodyPr anchor="t" anchorCtr="0">
            <a:noAutofit/>
          </a:bodyPr>
          <a:lstStyle>
            <a:lvl1pPr>
              <a:defRPr sz="4400">
                <a:solidFill>
                  <a:schemeClr val="accent1"/>
                </a:solidFill>
                <a:latin typeface="+mj-lt"/>
              </a:defRPr>
            </a:lvl1pPr>
            <a:lvl2pPr marL="0" indent="0">
              <a:buNone/>
              <a:defRPr sz="4400">
                <a:latin typeface="+mj-lt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E5993C5-A8CE-449E-A5E4-F74B55BF99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68550" y="4882912"/>
            <a:ext cx="4131402" cy="616552"/>
          </a:xfrm>
        </p:spPr>
        <p:txBody>
          <a:bodyPr anchor="t" anchorCtr="0">
            <a:normAutofit/>
          </a:bodyPr>
          <a:lstStyle>
            <a:lvl1pPr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Insert quote source text here</a:t>
            </a:r>
          </a:p>
        </p:txBody>
      </p:sp>
      <p:pic>
        <p:nvPicPr>
          <p:cNvPr id="3" name="Picture 2" descr="A picture containing clipart&#10;&#10;Description automatically generated">
            <a:extLst>
              <a:ext uri="{FF2B5EF4-FFF2-40B4-BE49-F238E27FC236}">
                <a16:creationId xmlns:a16="http://schemas.microsoft.com/office/drawing/2014/main" id="{C28BB54F-ED92-2CA4-5777-7EAD3AC0D2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50" y="1489167"/>
            <a:ext cx="551602" cy="4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61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network&#10;&#10;Description automatically generated">
            <a:extLst>
              <a:ext uri="{FF2B5EF4-FFF2-40B4-BE49-F238E27FC236}">
                <a16:creationId xmlns:a16="http://schemas.microsoft.com/office/drawing/2014/main" id="{2A690247-AE5B-979D-9399-90947EFB47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9BE7EA-388D-4F04-806B-A5A04D722A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17874" y="2435125"/>
            <a:ext cx="5556251" cy="2538254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</a:defRPr>
            </a:lvl1pPr>
            <a:lvl5pPr marL="540000" indent="0">
              <a:buNone/>
              <a:defRPr sz="6000"/>
            </a:lvl5pPr>
          </a:lstStyle>
          <a:p>
            <a:pPr lvl="0"/>
            <a:r>
              <a:rPr lang="en-US" dirty="0"/>
              <a:t>Questions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1BD8D3-FA1A-DE4F-F898-AD44276786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56314" y="422911"/>
            <a:ext cx="574993" cy="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879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ld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network&#10;&#10;Description automatically generated">
            <a:extLst>
              <a:ext uri="{FF2B5EF4-FFF2-40B4-BE49-F238E27FC236}">
                <a16:creationId xmlns:a16="http://schemas.microsoft.com/office/drawing/2014/main" id="{6B99B4FA-2859-10B1-83CD-7EE9E87C3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2"/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F3177C-DF99-46B7-A803-E4D73E0424E7}"/>
              </a:ext>
            </a:extLst>
          </p:cNvPr>
          <p:cNvSpPr txBox="1"/>
          <p:nvPr userDrawn="1"/>
        </p:nvSpPr>
        <p:spPr>
          <a:xfrm>
            <a:off x="2227400" y="5140400"/>
            <a:ext cx="2849563" cy="3975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600">
                <a:solidFill>
                  <a:schemeClr val="accent2"/>
                </a:solidFill>
                <a:latin typeface="+mj-lt"/>
              </a:rPr>
              <a:t>www.shift.com.au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F6B89-2263-4C23-9920-557AC8FC3279}"/>
              </a:ext>
            </a:extLst>
          </p:cNvPr>
          <p:cNvSpPr txBox="1"/>
          <p:nvPr userDrawn="1"/>
        </p:nvSpPr>
        <p:spPr>
          <a:xfrm>
            <a:off x="5388609" y="5143500"/>
            <a:ext cx="2849563" cy="3975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600">
                <a:solidFill>
                  <a:schemeClr val="accent2"/>
                </a:solidFill>
                <a:latin typeface="+mj-lt"/>
              </a:rPr>
              <a:t>contact@shift.com.au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8D033-AC9B-465A-A026-E75EC6D3FB02}"/>
              </a:ext>
            </a:extLst>
          </p:cNvPr>
          <p:cNvSpPr txBox="1"/>
          <p:nvPr userDrawn="1"/>
        </p:nvSpPr>
        <p:spPr>
          <a:xfrm>
            <a:off x="9093200" y="5142471"/>
            <a:ext cx="2849563" cy="3220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600">
                <a:solidFill>
                  <a:schemeClr val="tx2"/>
                </a:solidFill>
                <a:latin typeface="+mj-lt"/>
              </a:rPr>
              <a:t>1300 649 249</a:t>
            </a:r>
            <a:endParaRPr lang="en-AU" sz="1600" err="1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7B6ED16B-821D-4A46-8FD6-997D82A54E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4718" y="5107177"/>
            <a:ext cx="334042" cy="347228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3824A85D-C976-4C01-9D7F-8CD6E642D0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4450" y="5122290"/>
            <a:ext cx="317002" cy="317002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B032106C-D36A-4654-A693-6DF4322A137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9040" y="5111435"/>
            <a:ext cx="317000" cy="3341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DF3D7-92A6-49B1-A247-D6A7CCBCB79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05130" y="2633539"/>
            <a:ext cx="2981740" cy="109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084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ld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network&#10;&#10;Description automatically generated">
            <a:extLst>
              <a:ext uri="{FF2B5EF4-FFF2-40B4-BE49-F238E27FC236}">
                <a16:creationId xmlns:a16="http://schemas.microsoft.com/office/drawing/2014/main" id="{17472460-E5B7-50E6-6E43-BDD48F67D5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accent2"/>
            </a:outerShdw>
          </a:effec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5DDF3D7-92A6-49B1-A247-D6A7CCBCB7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5130" y="2633539"/>
            <a:ext cx="2981740" cy="109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353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lding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network&#10;&#10;Description automatically generated">
            <a:extLst>
              <a:ext uri="{FF2B5EF4-FFF2-40B4-BE49-F238E27FC236}">
                <a16:creationId xmlns:a16="http://schemas.microsoft.com/office/drawing/2014/main" id="{1312CE98-DF37-3BFD-687E-79E0BC45F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18E235-9854-47F9-ACCF-CCE7A11AD8A8}"/>
              </a:ext>
            </a:extLst>
          </p:cNvPr>
          <p:cNvSpPr txBox="1"/>
          <p:nvPr userDrawn="1"/>
        </p:nvSpPr>
        <p:spPr>
          <a:xfrm>
            <a:off x="2227400" y="5140400"/>
            <a:ext cx="2849563" cy="3975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 err="1">
                <a:solidFill>
                  <a:schemeClr val="accent2"/>
                </a:solidFill>
                <a:latin typeface="+mj-lt"/>
              </a:rPr>
              <a:t>www.shift.com.au</a:t>
            </a:r>
            <a:endParaRPr lang="en-US" sz="16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1B587-378A-4030-BCB2-EEF8AA82CCA7}"/>
              </a:ext>
            </a:extLst>
          </p:cNvPr>
          <p:cNvSpPr txBox="1"/>
          <p:nvPr userDrawn="1"/>
        </p:nvSpPr>
        <p:spPr>
          <a:xfrm>
            <a:off x="5388609" y="5143500"/>
            <a:ext cx="2849563" cy="3975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600">
                <a:solidFill>
                  <a:schemeClr val="accent2"/>
                </a:solidFill>
                <a:latin typeface="+mj-lt"/>
              </a:rPr>
              <a:t>contact@shift.com.au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3617-7BC7-4FCB-96E4-1A420D087853}"/>
              </a:ext>
            </a:extLst>
          </p:cNvPr>
          <p:cNvSpPr txBox="1"/>
          <p:nvPr userDrawn="1"/>
        </p:nvSpPr>
        <p:spPr>
          <a:xfrm>
            <a:off x="9093200" y="5142471"/>
            <a:ext cx="2849563" cy="3220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1300 249 649</a:t>
            </a:r>
            <a:endParaRPr lang="en-AU" sz="16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5115EF1-B145-4D36-A370-6DB209F797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9040" y="5111435"/>
            <a:ext cx="317000" cy="3387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5F8D17-76E9-4102-9C00-37C30D2EBD3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4718" y="5107177"/>
            <a:ext cx="334042" cy="34722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F0518F-AFAC-4D72-80F1-6A505E69B99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4449" y="5122290"/>
            <a:ext cx="317002" cy="31700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3D0ED32-48F7-4C40-A9FE-C6D1DC4BE99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9802" y="2631587"/>
            <a:ext cx="2987068" cy="10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083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lding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network&#10;&#10;Description automatically generated">
            <a:extLst>
              <a:ext uri="{FF2B5EF4-FFF2-40B4-BE49-F238E27FC236}">
                <a16:creationId xmlns:a16="http://schemas.microsoft.com/office/drawing/2014/main" id="{8C1EAB4E-2DD0-6885-03FA-E80747AC6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03" y="0"/>
            <a:ext cx="12474503" cy="70169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3D0ED32-48F7-4C40-A9FE-C6D1DC4BE9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9802" y="2631587"/>
            <a:ext cx="2987068" cy="10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5497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slide in templa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CF16E-41C4-4D51-AA5C-7803788BD3DB}"/>
              </a:ext>
            </a:extLst>
          </p:cNvPr>
          <p:cNvSpPr txBox="1"/>
          <p:nvPr userDrawn="1"/>
        </p:nvSpPr>
        <p:spPr>
          <a:xfrm>
            <a:off x="793750" y="2001837"/>
            <a:ext cx="10604500" cy="31400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9600">
                <a:solidFill>
                  <a:schemeClr val="bg1"/>
                </a:solidFill>
              </a:rPr>
              <a:t>Do not use layouts after this slide</a:t>
            </a:r>
            <a:endParaRPr lang="en-AU" sz="960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690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9F9F34B-58D0-4AF4-824F-DB60889DB857}"/>
              </a:ext>
            </a:extLst>
          </p:cNvPr>
          <p:cNvSpPr/>
          <p:nvPr userDrawn="1"/>
        </p:nvSpPr>
        <p:spPr>
          <a:xfrm flipH="1">
            <a:off x="6095999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1E85-C416-44F1-BEAC-2825CCB44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2011362"/>
            <a:ext cx="5220000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97C46-F8F2-42AD-9B76-3ABD2B178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725" y="2623281"/>
            <a:ext cx="5220000" cy="3696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F45821-EB77-48A6-A31C-3F0EC2D0F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3688" y="2011362"/>
            <a:ext cx="5220000" cy="38258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AC69E-C919-4D96-976F-AF0265F4C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03688" y="2623281"/>
            <a:ext cx="5220000" cy="3696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75813E4-4AB4-4386-BDE8-5A7A955D5D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726" y="1227138"/>
            <a:ext cx="5219999" cy="554893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accent2"/>
                </a:solidFill>
                <a:latin typeface="+mj-lt"/>
              </a:defRPr>
            </a:lvl1pPr>
            <a:lvl2pPr>
              <a:defRPr>
                <a:solidFill>
                  <a:schemeClr val="accent2"/>
                </a:solidFill>
                <a:latin typeface="+mj-lt"/>
              </a:defRPr>
            </a:lvl2pPr>
            <a:lvl3pPr>
              <a:defRPr>
                <a:solidFill>
                  <a:schemeClr val="accent2"/>
                </a:solidFill>
                <a:latin typeface="+mj-lt"/>
              </a:defRPr>
            </a:lvl3pPr>
            <a:lvl4pPr>
              <a:defRPr>
                <a:solidFill>
                  <a:schemeClr val="accent2"/>
                </a:solidFill>
                <a:latin typeface="+mj-lt"/>
              </a:defRPr>
            </a:lvl4pPr>
            <a:lvl5pPr>
              <a:defRPr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Insert slide subtitle here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4F81591-AEC7-498C-B09E-523DA815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431799"/>
            <a:ext cx="5219998" cy="7953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288DBD7-EE6C-4536-B2AB-210E10E5AA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726" y="6577540"/>
            <a:ext cx="7456488" cy="141288"/>
          </a:xfrm>
        </p:spPr>
        <p:txBody>
          <a:bodyPr anchor="b" anchorCtr="0">
            <a:noAutofit/>
          </a:bodyPr>
          <a:lstStyle>
            <a:lvl1pPr>
              <a:spcAft>
                <a:spcPts val="0"/>
              </a:spcAft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Insert footer text here</a:t>
            </a:r>
            <a:endParaRPr lang="en-A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C1E1F-A9C3-4D1B-8CD0-C2D4FDEC592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825427" y="6577541"/>
            <a:ext cx="447145" cy="141287"/>
          </a:xfrm>
        </p:spPr>
        <p:txBody>
          <a:bodyPr/>
          <a:lstStyle/>
          <a:p>
            <a:endParaRPr lang="en-AU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9DBDEA-7C61-4635-B9A1-0D930B3DA2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67675" y="6577541"/>
            <a:ext cx="2625723" cy="141287"/>
          </a:xfrm>
        </p:spPr>
        <p:txBody>
          <a:bodyPr/>
          <a:lstStyle/>
          <a:p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D132F3-0D0B-4CC1-B0BA-98ABFF561F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72850" y="6577541"/>
            <a:ext cx="350838" cy="141287"/>
          </a:xfrm>
        </p:spPr>
        <p:txBody>
          <a:bodyPr/>
          <a:lstStyle/>
          <a:p>
            <a:r>
              <a:rPr lang="en-AU"/>
              <a:t>Page </a:t>
            </a:r>
            <a:fld id="{CF7AD768-FBED-4928-A6B0-5006EB45EF40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D9C4FEB-B52A-4EAA-BB9A-0478061116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79" y="424458"/>
            <a:ext cx="574993" cy="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344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1EB7-95EB-DBCE-18EE-8C7FC2B32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F5139-1533-2A35-722F-048D4636E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1ED56-D208-ECE7-F2F1-B0DE6B7B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66C9C-A4C4-44FF-AC18-C07A3FE98F01}" type="datetimeFigureOut">
              <a:rPr lang="en-AU" smtClean="0"/>
              <a:t>24/5/2025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C7538-62C9-EB1F-AF6B-017A6D9F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5913A-733E-7BCF-9327-682152E3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BD89D-3194-4F17-8D3E-150440DEAD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7067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with Headline">
  <p:cSld name="Three Content with Headline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>
            <a:spLocks noGrp="1"/>
          </p:cNvSpPr>
          <p:nvPr>
            <p:ph type="body" idx="1"/>
          </p:nvPr>
        </p:nvSpPr>
        <p:spPr>
          <a:xfrm>
            <a:off x="4986008" y="2362200"/>
            <a:ext cx="3132400" cy="3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5DD"/>
              </a:buClr>
              <a:buSzPts val="1500"/>
              <a:buNone/>
              <a:defRPr sz="1467">
                <a:solidFill>
                  <a:srgbClr val="001B40"/>
                </a:solidFill>
              </a:defRPr>
            </a:lvl1pPr>
            <a:lvl2pPr marL="1219170" lvl="1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 sz="2000">
                <a:solidFill>
                  <a:srgbClr val="001B40"/>
                </a:solidFill>
              </a:defRPr>
            </a:lvl2pPr>
            <a:lvl3pPr marL="1828754" lvl="2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■"/>
              <a:defRPr sz="2000">
                <a:solidFill>
                  <a:srgbClr val="001B40"/>
                </a:solidFill>
              </a:defRPr>
            </a:lvl3pPr>
            <a:lvl4pPr marL="2438339" lvl="3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●"/>
              <a:defRPr sz="2000">
                <a:solidFill>
                  <a:srgbClr val="001B40"/>
                </a:solidFill>
              </a:defRPr>
            </a:lvl4pPr>
            <a:lvl5pPr marL="3047924" lvl="4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 sz="2000">
                <a:solidFill>
                  <a:srgbClr val="001B40"/>
                </a:solidFill>
              </a:defRPr>
            </a:lvl5pPr>
            <a:lvl6pPr marL="3657509" lvl="5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■"/>
              <a:defRPr sz="2000">
                <a:solidFill>
                  <a:srgbClr val="001B40"/>
                </a:solidFill>
              </a:defRPr>
            </a:lvl6pPr>
            <a:lvl7pPr marL="4267093" lvl="6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●"/>
              <a:defRPr sz="2000">
                <a:solidFill>
                  <a:srgbClr val="001B40"/>
                </a:solidFill>
              </a:defRPr>
            </a:lvl7pPr>
            <a:lvl8pPr marL="4876678" lvl="7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 sz="2000">
                <a:solidFill>
                  <a:srgbClr val="001B40"/>
                </a:solidFill>
              </a:defRPr>
            </a:lvl8pPr>
            <a:lvl9pPr marL="5486263" lvl="8" indent="-431789" algn="l">
              <a:lnSpc>
                <a:spcPct val="100000"/>
              </a:lnSpc>
              <a:spcBef>
                <a:spcPts val="2667"/>
              </a:spcBef>
              <a:spcAft>
                <a:spcPts val="2667"/>
              </a:spcAft>
              <a:buClr>
                <a:srgbClr val="001B40"/>
              </a:buClr>
              <a:buSzPts val="1500"/>
              <a:buChar char="■"/>
              <a:defRPr sz="2000">
                <a:solidFill>
                  <a:srgbClr val="001B40"/>
                </a:solidFill>
              </a:defRPr>
            </a:lvl9pPr>
          </a:lstStyle>
          <a:p>
            <a:endParaRPr/>
          </a:p>
        </p:txBody>
      </p:sp>
      <p:sp>
        <p:nvSpPr>
          <p:cNvPr id="386" name="Google Shape;386;p35"/>
          <p:cNvSpPr txBox="1">
            <a:spLocks noGrp="1"/>
          </p:cNvSpPr>
          <p:nvPr>
            <p:ph type="body" idx="2"/>
          </p:nvPr>
        </p:nvSpPr>
        <p:spPr>
          <a:xfrm>
            <a:off x="1488016" y="2362200"/>
            <a:ext cx="3132400" cy="3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5DD"/>
              </a:buClr>
              <a:buSzPts val="1500"/>
              <a:buNone/>
              <a:defRPr sz="1467">
                <a:solidFill>
                  <a:srgbClr val="001B40"/>
                </a:solidFill>
              </a:defRPr>
            </a:lvl1pPr>
            <a:lvl2pPr marL="1219170" lvl="1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>
                <a:solidFill>
                  <a:srgbClr val="001B40"/>
                </a:solidFill>
              </a:defRPr>
            </a:lvl2pPr>
            <a:lvl3pPr marL="1828754" lvl="2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■"/>
              <a:defRPr>
                <a:solidFill>
                  <a:srgbClr val="001B40"/>
                </a:solidFill>
              </a:defRPr>
            </a:lvl3pPr>
            <a:lvl4pPr marL="2438339" lvl="3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●"/>
              <a:defRPr>
                <a:solidFill>
                  <a:srgbClr val="001B40"/>
                </a:solidFill>
              </a:defRPr>
            </a:lvl4pPr>
            <a:lvl5pPr marL="3047924" lvl="4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>
                <a:solidFill>
                  <a:srgbClr val="001B40"/>
                </a:solidFill>
              </a:defRPr>
            </a:lvl5pPr>
            <a:lvl6pPr marL="3657509" lvl="5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■"/>
              <a:defRPr>
                <a:solidFill>
                  <a:srgbClr val="001B40"/>
                </a:solidFill>
              </a:defRPr>
            </a:lvl6pPr>
            <a:lvl7pPr marL="4267093" lvl="6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●"/>
              <a:defRPr>
                <a:solidFill>
                  <a:srgbClr val="001B40"/>
                </a:solidFill>
              </a:defRPr>
            </a:lvl7pPr>
            <a:lvl8pPr marL="4876678" lvl="7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>
                <a:solidFill>
                  <a:srgbClr val="001B40"/>
                </a:solidFill>
              </a:defRPr>
            </a:lvl8pPr>
            <a:lvl9pPr marL="5486263" lvl="8" indent="-431789" algn="l">
              <a:lnSpc>
                <a:spcPct val="100000"/>
              </a:lnSpc>
              <a:spcBef>
                <a:spcPts val="2667"/>
              </a:spcBef>
              <a:spcAft>
                <a:spcPts val="2667"/>
              </a:spcAft>
              <a:buClr>
                <a:srgbClr val="0075DD"/>
              </a:buClr>
              <a:buSzPts val="1500"/>
              <a:buChar char="■"/>
              <a:defRPr>
                <a:solidFill>
                  <a:srgbClr val="001B40"/>
                </a:solidFill>
              </a:defRPr>
            </a:lvl9pPr>
          </a:lstStyle>
          <a:p>
            <a:endParaRPr/>
          </a:p>
        </p:txBody>
      </p:sp>
      <p:sp>
        <p:nvSpPr>
          <p:cNvPr id="387" name="Google Shape;387;p35"/>
          <p:cNvSpPr txBox="1">
            <a:spLocks noGrp="1"/>
          </p:cNvSpPr>
          <p:nvPr>
            <p:ph type="body" idx="3"/>
          </p:nvPr>
        </p:nvSpPr>
        <p:spPr>
          <a:xfrm>
            <a:off x="8483999" y="2362200"/>
            <a:ext cx="3132400" cy="35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75DD"/>
              </a:buClr>
              <a:buSzPts val="1500"/>
              <a:buNone/>
              <a:defRPr sz="1467">
                <a:solidFill>
                  <a:srgbClr val="001B40"/>
                </a:solidFill>
              </a:defRPr>
            </a:lvl1pPr>
            <a:lvl2pPr marL="1219170" lvl="1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 sz="2000">
                <a:solidFill>
                  <a:srgbClr val="001B40"/>
                </a:solidFill>
              </a:defRPr>
            </a:lvl2pPr>
            <a:lvl3pPr marL="1828754" lvl="2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■"/>
              <a:defRPr sz="2000">
                <a:solidFill>
                  <a:srgbClr val="001B40"/>
                </a:solidFill>
              </a:defRPr>
            </a:lvl3pPr>
            <a:lvl4pPr marL="2438339" lvl="3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●"/>
              <a:defRPr sz="2000">
                <a:solidFill>
                  <a:srgbClr val="001B40"/>
                </a:solidFill>
              </a:defRPr>
            </a:lvl4pPr>
            <a:lvl5pPr marL="3047924" lvl="4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 sz="2000">
                <a:solidFill>
                  <a:srgbClr val="001B40"/>
                </a:solidFill>
              </a:defRPr>
            </a:lvl5pPr>
            <a:lvl6pPr marL="3657509" lvl="5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■"/>
              <a:defRPr sz="2000">
                <a:solidFill>
                  <a:srgbClr val="001B40"/>
                </a:solidFill>
              </a:defRPr>
            </a:lvl6pPr>
            <a:lvl7pPr marL="4267093" lvl="6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●"/>
              <a:defRPr sz="2000">
                <a:solidFill>
                  <a:srgbClr val="001B40"/>
                </a:solidFill>
              </a:defRPr>
            </a:lvl7pPr>
            <a:lvl8pPr marL="4876678" lvl="7" indent="-431789" algn="l">
              <a:lnSpc>
                <a:spcPct val="100000"/>
              </a:lnSpc>
              <a:spcBef>
                <a:spcPts val="2667"/>
              </a:spcBef>
              <a:spcAft>
                <a:spcPts val="0"/>
              </a:spcAft>
              <a:buClr>
                <a:srgbClr val="0075DD"/>
              </a:buClr>
              <a:buSzPts val="1500"/>
              <a:buChar char="○"/>
              <a:defRPr sz="2000">
                <a:solidFill>
                  <a:srgbClr val="001B40"/>
                </a:solidFill>
              </a:defRPr>
            </a:lvl8pPr>
            <a:lvl9pPr marL="5486263" lvl="8" indent="-431789" algn="l">
              <a:lnSpc>
                <a:spcPct val="100000"/>
              </a:lnSpc>
              <a:spcBef>
                <a:spcPts val="2667"/>
              </a:spcBef>
              <a:spcAft>
                <a:spcPts val="2667"/>
              </a:spcAft>
              <a:buClr>
                <a:srgbClr val="001B40"/>
              </a:buClr>
              <a:buSzPts val="1500"/>
              <a:buChar char="■"/>
              <a:defRPr sz="2000">
                <a:solidFill>
                  <a:srgbClr val="001B40"/>
                </a:solidFill>
              </a:defRPr>
            </a:lvl9pPr>
          </a:lstStyle>
          <a:p>
            <a:endParaRPr/>
          </a:p>
        </p:txBody>
      </p:sp>
      <p:sp>
        <p:nvSpPr>
          <p:cNvPr id="388" name="Google Shape;388;p35"/>
          <p:cNvSpPr txBox="1">
            <a:spLocks noGrp="1"/>
          </p:cNvSpPr>
          <p:nvPr>
            <p:ph type="subTitle" idx="4"/>
          </p:nvPr>
        </p:nvSpPr>
        <p:spPr>
          <a:xfrm>
            <a:off x="1488017" y="1536633"/>
            <a:ext cx="3132400" cy="7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133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9pPr>
          </a:lstStyle>
          <a:p>
            <a:endParaRPr/>
          </a:p>
        </p:txBody>
      </p:sp>
      <p:sp>
        <p:nvSpPr>
          <p:cNvPr id="389" name="Google Shape;389;p35"/>
          <p:cNvSpPr txBox="1">
            <a:spLocks noGrp="1"/>
          </p:cNvSpPr>
          <p:nvPr>
            <p:ph type="subTitle" idx="5"/>
          </p:nvPr>
        </p:nvSpPr>
        <p:spPr>
          <a:xfrm>
            <a:off x="4986008" y="1536633"/>
            <a:ext cx="3132400" cy="7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133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subTitle" idx="6"/>
          </p:nvPr>
        </p:nvSpPr>
        <p:spPr>
          <a:xfrm>
            <a:off x="8483999" y="1536633"/>
            <a:ext cx="3132400" cy="7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133"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B40"/>
              </a:buClr>
              <a:buSzPts val="1800"/>
              <a:buNone/>
              <a:defRPr sz="2400">
                <a:solidFill>
                  <a:srgbClr val="001B40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114090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ID" sz="1333" b="0" i="0" u="none" strike="noStrike" cap="none">
                <a:solidFill>
                  <a:srgbClr val="001B40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‹#›</a:t>
            </a:fld>
            <a:endParaRPr sz="1333" b="0" i="0" u="none" strike="noStrike" cap="none">
              <a:solidFill>
                <a:srgbClr val="001B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5"/>
          <p:cNvSpPr txBox="1">
            <a:spLocks noGrp="1"/>
          </p:cNvSpPr>
          <p:nvPr>
            <p:ph type="title"/>
          </p:nvPr>
        </p:nvSpPr>
        <p:spPr>
          <a:xfrm>
            <a:off x="1488016" y="567297"/>
            <a:ext cx="10128400" cy="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subTitle" idx="7"/>
          </p:nvPr>
        </p:nvSpPr>
        <p:spPr>
          <a:xfrm rot="-5400000">
            <a:off x="-646800" y="4331367"/>
            <a:ext cx="2831200" cy="35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2pPr>
            <a:lvl3pPr lvl="2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3pPr>
            <a:lvl4pPr lvl="3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4pPr>
            <a:lvl5pPr lvl="4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5pPr>
            <a:lvl6pPr lvl="5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6pPr>
            <a:lvl7pPr lvl="6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7pPr>
            <a:lvl8pPr lvl="7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8pPr>
            <a:lvl9pPr lvl="8" rtl="0">
              <a:spcBef>
                <a:spcPts val="0"/>
              </a:spcBef>
              <a:spcAft>
                <a:spcPts val="0"/>
              </a:spcAft>
              <a:buSzPts val="600"/>
              <a:buNone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9713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A6099-F4CC-4E75-AE3D-402C367DC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431799"/>
            <a:ext cx="9356724" cy="392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E6A47-A51E-4874-8D8F-DAFB2A409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1609726"/>
            <a:ext cx="11256963" cy="471011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AAFE37-9720-4D82-97A0-A8FEA382343A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155679" y="424458"/>
            <a:ext cx="574993" cy="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9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668" r:id="rId3"/>
    <p:sldLayoutId id="2147483651" r:id="rId4"/>
    <p:sldLayoutId id="2147483677" r:id="rId5"/>
    <p:sldLayoutId id="2147483678" r:id="rId6"/>
    <p:sldLayoutId id="2147483687" r:id="rId7"/>
    <p:sldLayoutId id="2147483688" r:id="rId8"/>
    <p:sldLayoutId id="2147483650" r:id="rId9"/>
    <p:sldLayoutId id="2147483679" r:id="rId10"/>
    <p:sldLayoutId id="2147483652" r:id="rId11"/>
    <p:sldLayoutId id="2147483672" r:id="rId12"/>
    <p:sldLayoutId id="2147483659" r:id="rId13"/>
    <p:sldLayoutId id="2147483680" r:id="rId14"/>
    <p:sldLayoutId id="2147483660" r:id="rId15"/>
    <p:sldLayoutId id="2147483654" r:id="rId16"/>
    <p:sldLayoutId id="2147483674" r:id="rId17"/>
    <p:sldLayoutId id="2147483655" r:id="rId18"/>
    <p:sldLayoutId id="2147483661" r:id="rId19"/>
    <p:sldLayoutId id="2147483662" r:id="rId20"/>
    <p:sldLayoutId id="2147483681" r:id="rId21"/>
    <p:sldLayoutId id="2147483682" r:id="rId22"/>
    <p:sldLayoutId id="2147483675" r:id="rId23"/>
    <p:sldLayoutId id="2147483676" r:id="rId24"/>
    <p:sldLayoutId id="2147483664" r:id="rId25"/>
    <p:sldLayoutId id="2147483698" r:id="rId26"/>
    <p:sldLayoutId id="2147483671" r:id="rId27"/>
    <p:sldLayoutId id="2147483656" r:id="rId28"/>
    <p:sldLayoutId id="2147483685" r:id="rId29"/>
    <p:sldLayoutId id="2147483657" r:id="rId30"/>
    <p:sldLayoutId id="2147483684" r:id="rId31"/>
    <p:sldLayoutId id="2147483658" r:id="rId32"/>
    <p:sldLayoutId id="2147483699" r:id="rId33"/>
    <p:sldLayoutId id="2147483700" r:id="rId34"/>
    <p:sldLayoutId id="2147483701" r:id="rId3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94" userDrawn="1">
          <p15:clr>
            <a:srgbClr val="F26B43"/>
          </p15:clr>
        </p15:guide>
        <p15:guide id="4" pos="802" userDrawn="1">
          <p15:clr>
            <a:srgbClr val="F26B43"/>
          </p15:clr>
        </p15:guide>
        <p15:guide id="5" pos="893" userDrawn="1">
          <p15:clr>
            <a:srgbClr val="F26B43"/>
          </p15:clr>
        </p15:guide>
        <p15:guide id="6" pos="1400" userDrawn="1">
          <p15:clr>
            <a:srgbClr val="F26B43"/>
          </p15:clr>
        </p15:guide>
        <p15:guide id="7" pos="1491" userDrawn="1">
          <p15:clr>
            <a:srgbClr val="F26B43"/>
          </p15:clr>
        </p15:guide>
        <p15:guide id="8" pos="1999" userDrawn="1">
          <p15:clr>
            <a:srgbClr val="F26B43"/>
          </p15:clr>
        </p15:guide>
        <p15:guide id="9" pos="2090" userDrawn="1">
          <p15:clr>
            <a:srgbClr val="F26B43"/>
          </p15:clr>
        </p15:guide>
        <p15:guide id="10" pos="2597" userDrawn="1">
          <p15:clr>
            <a:srgbClr val="F26B43"/>
          </p15:clr>
        </p15:guide>
        <p15:guide id="11" pos="2688" userDrawn="1">
          <p15:clr>
            <a:srgbClr val="F26B43"/>
          </p15:clr>
        </p15:guide>
        <p15:guide id="12" pos="3196" userDrawn="1">
          <p15:clr>
            <a:srgbClr val="F26B43"/>
          </p15:clr>
        </p15:guide>
        <p15:guide id="13" pos="3286" userDrawn="1">
          <p15:clr>
            <a:srgbClr val="F26B43"/>
          </p15:clr>
        </p15:guide>
        <p15:guide id="14" pos="3794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393" userDrawn="1">
          <p15:clr>
            <a:srgbClr val="F26B43"/>
          </p15:clr>
        </p15:guide>
        <p15:guide id="17" pos="4483" userDrawn="1">
          <p15:clr>
            <a:srgbClr val="F26B43"/>
          </p15:clr>
        </p15:guide>
        <p15:guide id="18" pos="4991" userDrawn="1">
          <p15:clr>
            <a:srgbClr val="F26B43"/>
          </p15:clr>
        </p15:guide>
        <p15:guide id="19" pos="5082" userDrawn="1">
          <p15:clr>
            <a:srgbClr val="F26B43"/>
          </p15:clr>
        </p15:guide>
        <p15:guide id="20" pos="5589" userDrawn="1">
          <p15:clr>
            <a:srgbClr val="F26B43"/>
          </p15:clr>
        </p15:guide>
        <p15:guide id="21" pos="5680" userDrawn="1">
          <p15:clr>
            <a:srgbClr val="F26B43"/>
          </p15:clr>
        </p15:guide>
        <p15:guide id="22" pos="6188" userDrawn="1">
          <p15:clr>
            <a:srgbClr val="F26B43"/>
          </p15:clr>
        </p15:guide>
        <p15:guide id="23" pos="6279" userDrawn="1">
          <p15:clr>
            <a:srgbClr val="F26B43"/>
          </p15:clr>
        </p15:guide>
        <p15:guide id="24" pos="6786" userDrawn="1">
          <p15:clr>
            <a:srgbClr val="F26B43"/>
          </p15:clr>
        </p15:guide>
        <p15:guide id="25" pos="6877" userDrawn="1">
          <p15:clr>
            <a:srgbClr val="F26B43"/>
          </p15:clr>
        </p15:guide>
        <p15:guide id="26" pos="7385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72" userDrawn="1">
          <p15:clr>
            <a:srgbClr val="F26B43"/>
          </p15:clr>
        </p15:guide>
        <p15:guide id="30" orient="horz" pos="519" userDrawn="1">
          <p15:clr>
            <a:srgbClr val="F26B43"/>
          </p15:clr>
        </p15:guide>
        <p15:guide id="31" orient="horz" pos="766" userDrawn="1">
          <p15:clr>
            <a:srgbClr val="F26B43"/>
          </p15:clr>
        </p15:guide>
        <p15:guide id="32" orient="horz" pos="1014" userDrawn="1">
          <p15:clr>
            <a:srgbClr val="F26B43"/>
          </p15:clr>
        </p15:guide>
        <p15:guide id="33" orient="horz" pos="1261" userDrawn="1">
          <p15:clr>
            <a:srgbClr val="F26B43"/>
          </p15:clr>
        </p15:guide>
        <p15:guide id="34" orient="horz" pos="1508" userDrawn="1">
          <p15:clr>
            <a:srgbClr val="F26B43"/>
          </p15:clr>
        </p15:guide>
        <p15:guide id="35" orient="horz" pos="1756" userDrawn="1">
          <p15:clr>
            <a:srgbClr val="F26B43"/>
          </p15:clr>
        </p15:guide>
        <p15:guide id="36" orient="horz" pos="2003" userDrawn="1">
          <p15:clr>
            <a:srgbClr val="F26B43"/>
          </p15:clr>
        </p15:guide>
        <p15:guide id="37" orient="horz" pos="2250" userDrawn="1">
          <p15:clr>
            <a:srgbClr val="F26B43"/>
          </p15:clr>
        </p15:guide>
        <p15:guide id="38" orient="horz" pos="2498" userDrawn="1">
          <p15:clr>
            <a:srgbClr val="F26B43"/>
          </p15:clr>
        </p15:guide>
        <p15:guide id="39" orient="horz" pos="2745" userDrawn="1">
          <p15:clr>
            <a:srgbClr val="F26B43"/>
          </p15:clr>
        </p15:guide>
        <p15:guide id="40" orient="horz" pos="2992" userDrawn="1">
          <p15:clr>
            <a:srgbClr val="F26B43"/>
          </p15:clr>
        </p15:guide>
        <p15:guide id="41" orient="horz" pos="3240" userDrawn="1">
          <p15:clr>
            <a:srgbClr val="F26B43"/>
          </p15:clr>
        </p15:guide>
        <p15:guide id="42" orient="horz" pos="3487" userDrawn="1">
          <p15:clr>
            <a:srgbClr val="F26B43"/>
          </p15:clr>
        </p15:guide>
        <p15:guide id="43" orient="horz" pos="3734" userDrawn="1">
          <p15:clr>
            <a:srgbClr val="F26B43"/>
          </p15:clr>
        </p15:guide>
        <p15:guide id="44" orient="horz" pos="3981" userDrawn="1">
          <p15:clr>
            <a:srgbClr val="F26B43"/>
          </p15:clr>
        </p15:guide>
        <p15:guide id="45" orient="horz" pos="42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4_model#cite_note-:1-2" TargetMode="External"/><Relationship Id="rId2" Type="http://schemas.openxmlformats.org/officeDocument/2006/relationships/hyperlink" Target="https://en.wikipedia.org/wiki/C4_model#cite_note-:0-1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google-design/google-maps-cb0326d165f5" TargetMode="External"/><Relationship Id="rId3" Type="http://schemas.openxmlformats.org/officeDocument/2006/relationships/hyperlink" Target="https://c4model.com/" TargetMode="External"/><Relationship Id="rId7" Type="http://schemas.openxmlformats.org/officeDocument/2006/relationships/hyperlink" Target="https://static.codingthearchitecture.com/c4.pdf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structurizr.com/" TargetMode="External"/><Relationship Id="rId5" Type="http://schemas.openxmlformats.org/officeDocument/2006/relationships/hyperlink" Target="https://github.com/structurizr" TargetMode="External"/><Relationship Id="rId4" Type="http://schemas.openxmlformats.org/officeDocument/2006/relationships/hyperlink" Target="https://leanpub.com/visualising-software-architecture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9BF8C-897C-5BCE-8242-92A35160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C381F2D-F02C-FAB9-5BE8-F11C7455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2393950"/>
            <a:ext cx="11473027" cy="1571625"/>
          </a:xfrm>
        </p:spPr>
        <p:txBody>
          <a:bodyPr/>
          <a:lstStyle/>
          <a:p>
            <a:r>
              <a:rPr lang="en-US" b="1" dirty="0"/>
              <a:t>Diagrams that make sense – C4 Model</a:t>
            </a:r>
            <a:endParaRPr lang="en-AU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2E1798-EAB2-053A-DFED-EB5145D59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Francis Chung</a:t>
            </a:r>
          </a:p>
        </p:txBody>
      </p:sp>
    </p:spTree>
    <p:extLst>
      <p:ext uri="{BB962C8B-B14F-4D97-AF65-F5344CB8AC3E}">
        <p14:creationId xmlns:p14="http://schemas.microsoft.com/office/powerpoint/2010/main" val="288875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86A23F2-7602-4B4E-9400-0E59C6F6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945" y="2125665"/>
            <a:ext cx="7491505" cy="4270375"/>
          </a:xfrm>
        </p:spPr>
        <p:txBody>
          <a:bodyPr>
            <a:normAutofit/>
          </a:bodyPr>
          <a:lstStyle/>
          <a:p>
            <a:r>
              <a:rPr lang="en-AU" sz="2000" dirty="0"/>
              <a:t>Staff Engineer at Shift</a:t>
            </a:r>
          </a:p>
          <a:p>
            <a:endParaRPr lang="en-AU" sz="1800" dirty="0"/>
          </a:p>
          <a:p>
            <a:r>
              <a:rPr lang="en-AU" sz="2000" dirty="0"/>
              <a:t>Co-Organiser of </a:t>
            </a:r>
            <a:r>
              <a:rPr lang="en-AU" sz="2000" dirty="0" err="1"/>
              <a:t>Alt.Net</a:t>
            </a:r>
            <a:r>
              <a:rPr lang="en-AU" sz="2000" dirty="0"/>
              <a:t> &amp; DDD-AU Meetups</a:t>
            </a:r>
          </a:p>
          <a:p>
            <a:endParaRPr lang="en-ID" sz="2000" dirty="0"/>
          </a:p>
          <a:p>
            <a:r>
              <a:rPr lang="en-ID" sz="2000" dirty="0"/>
              <a:t>30+ years of experience in Banking, Finance, Fintech, Startups, EdTech, SAAS &amp; AI</a:t>
            </a:r>
          </a:p>
          <a:p>
            <a:endParaRPr lang="en-AU" sz="1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C34361-DCAC-9B93-7CA9-DB00F54073BE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005F2E26-8024-8CE8-E144-D6C0240ABD99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B5239558-51CE-B6BB-0938-6AB1647E1797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EE1EDD1-8595-9E70-089A-7590272D74C3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7F0C1B9-7F28-B2D5-CD76-2B8F24F6E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Speaker Intro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93934B-A3EF-65B6-43E5-49D113783F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Francis Chung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EB6354-8C94-BBEA-FA0A-DF30D885B64B}"/>
              </a:ext>
            </a:extLst>
          </p:cNvPr>
          <p:cNvSpPr txBox="1"/>
          <p:nvPr/>
        </p:nvSpPr>
        <p:spPr>
          <a:xfrm>
            <a:off x="1377538" y="172192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1200"/>
              </a:spcAft>
            </a:pPr>
            <a:endParaRPr lang="en-US" sz="14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04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52077A-81D3-4AC5-9C6C-F18865006C4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6726" y="6096000"/>
            <a:ext cx="3150233" cy="617537"/>
          </a:xfrm>
        </p:spPr>
        <p:txBody>
          <a:bodyPr/>
          <a:lstStyle/>
          <a:p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6" name="Title 5">
            <a:extLst>
              <a:ext uri="{FF2B5EF4-FFF2-40B4-BE49-F238E27FC236}">
                <a16:creationId xmlns:a16="http://schemas.microsoft.com/office/drawing/2014/main" id="{3875F2D3-FC94-CDEC-D142-4E074E8F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2806700"/>
            <a:ext cx="2929617" cy="622300"/>
          </a:xfrm>
        </p:spPr>
        <p:txBody>
          <a:bodyPr/>
          <a:lstStyle/>
          <a:p>
            <a:r>
              <a:rPr lang="en-US" sz="4800" b="1" dirty="0"/>
              <a:t>Agenda</a:t>
            </a:r>
            <a:endParaRPr lang="en-AU" sz="4800" b="1" dirty="0"/>
          </a:p>
        </p:txBody>
      </p:sp>
      <p:graphicFrame>
        <p:nvGraphicFramePr>
          <p:cNvPr id="19" name="Table 8">
            <a:extLst>
              <a:ext uri="{FF2B5EF4-FFF2-40B4-BE49-F238E27FC236}">
                <a16:creationId xmlns:a16="http://schemas.microsoft.com/office/drawing/2014/main" id="{13BB95A6-FA6D-C269-DB24-1103E5010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906920"/>
              </p:ext>
            </p:extLst>
          </p:nvPr>
        </p:nvGraphicFramePr>
        <p:xfrm>
          <a:off x="4671200" y="1712265"/>
          <a:ext cx="6779306" cy="3433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104">
                  <a:extLst>
                    <a:ext uri="{9D8B030D-6E8A-4147-A177-3AD203B41FA5}">
                      <a16:colId xmlns:a16="http://schemas.microsoft.com/office/drawing/2014/main" val="320119122"/>
                    </a:ext>
                  </a:extLst>
                </a:gridCol>
                <a:gridCol w="6210202">
                  <a:extLst>
                    <a:ext uri="{9D8B030D-6E8A-4147-A177-3AD203B41FA5}">
                      <a16:colId xmlns:a16="http://schemas.microsoft.com/office/drawing/2014/main" val="11161495"/>
                    </a:ext>
                  </a:extLst>
                </a:gridCol>
              </a:tblGrid>
              <a:tr h="57224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  <a:latin typeface="+mj-lt"/>
                        </a:rPr>
                        <a:t>01</a:t>
                      </a:r>
                      <a:endParaRPr lang="en-AU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Quick Intro to C4</a:t>
                      </a:r>
                      <a:endParaRPr lang="en-AU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83692"/>
                  </a:ext>
                </a:extLst>
              </a:tr>
              <a:tr h="57224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  <a:latin typeface="+mj-lt"/>
                        </a:rPr>
                        <a:t>02</a:t>
                      </a:r>
                      <a:endParaRPr lang="en-AU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Closer Look</a:t>
                      </a:r>
                      <a:endParaRPr lang="en-AU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350602"/>
                  </a:ext>
                </a:extLst>
              </a:tr>
              <a:tr h="57224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  <a:latin typeface="+mj-lt"/>
                        </a:rPr>
                        <a:t>03</a:t>
                      </a:r>
                      <a:endParaRPr lang="en-AU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Tooling for C4</a:t>
                      </a:r>
                      <a:endParaRPr lang="en-AU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02223"/>
                  </a:ext>
                </a:extLst>
              </a:tr>
              <a:tr h="572245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  <a:latin typeface="+mj-lt"/>
                        </a:rPr>
                        <a:t>04</a:t>
                      </a:r>
                      <a:endParaRPr lang="en-AU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Live Mayhem | Demo(</a:t>
                      </a:r>
                      <a:r>
                        <a:rPr lang="en-US" sz="1800" dirty="0" err="1">
                          <a:solidFill>
                            <a:schemeClr val="tx2"/>
                          </a:solidFill>
                        </a:rPr>
                        <a:t>lition</a:t>
                      </a: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) time</a:t>
                      </a:r>
                      <a:endParaRPr lang="en-AU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838506"/>
                  </a:ext>
                </a:extLst>
              </a:tr>
              <a:tr h="572245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accent2"/>
                          </a:solidFill>
                          <a:latin typeface="+mj-lt"/>
                        </a:rPr>
                        <a:t>05</a:t>
                      </a:r>
                      <a:endParaRPr lang="en-AU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Q &amp; A</a:t>
                      </a:r>
                      <a:endParaRPr lang="en-AU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695040"/>
                  </a:ext>
                </a:extLst>
              </a:tr>
              <a:tr h="572245">
                <a:tc>
                  <a:txBody>
                    <a:bodyPr/>
                    <a:lstStyle/>
                    <a:p>
                      <a:endParaRPr lang="en-AU" sz="1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lt1">
                          <a:lumMod val="10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6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589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A802-5302-6879-7814-5DB72F96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5D75EA0-21CF-04A8-E2DE-C28C13F0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Why do we even need C4?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F811E63-E088-3D4A-D88E-4ECB47331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609725"/>
            <a:ext cx="11256963" cy="4270375"/>
          </a:xfrm>
        </p:spPr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endParaRPr lang="en-US" sz="2000" dirty="0"/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US" sz="2000" dirty="0"/>
              <a:t>“We already have well proven ways to draw diagrams”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US" sz="2000" dirty="0"/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US" sz="2000" dirty="0"/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US" sz="2000" dirty="0"/>
              <a:t>“Even a 4 year old can understand my diagrams”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US" sz="2000" dirty="0"/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US" sz="2000" dirty="0"/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US" sz="2000" dirty="0"/>
              <a:t>“C4 won’t be useful to me”</a:t>
            </a:r>
          </a:p>
          <a:p>
            <a:endParaRPr lang="en-A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0EB6D6-41F1-1644-4BE7-1DAF191D3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367181-7BBF-B35F-7F0B-4271F000B704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16CB1F06-3370-CA5D-08E4-8D2F595E6793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AE73EAFE-B8ED-FF38-73DB-0648BA9D3A4B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5448DDC-0920-EA63-2FBE-A90917DD6423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765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7088-314C-46DA-7B2E-EB77BF77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53B9EEC-29DD-4639-B3E4-84CC8AF2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EA95D0-A8B3-7B79-807B-FB2DFC4DD0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D53500-C796-4D7A-5DF1-76318A8D0A52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00B694FE-30FE-0B80-B4A7-77744A82079F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FC3F4C2C-DB8C-963F-B16C-77E7C7B43E84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E408C28-E0FC-6108-4419-D11A2015D7D0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562;p55">
            <a:extLst>
              <a:ext uri="{FF2B5EF4-FFF2-40B4-BE49-F238E27FC236}">
                <a16:creationId xmlns:a16="http://schemas.microsoft.com/office/drawing/2014/main" id="{18ECA13E-9B9F-C80F-6F40-354B224E903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54924" y="431799"/>
            <a:ext cx="6478312" cy="5448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7638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2C5E6-4D70-9F8B-4D35-4B7A2D41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DCC33B3-2229-3B45-9944-EA4F2B16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Let’s play a Game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8DF39E-CD46-7111-BC33-FE475CEB8F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Can some one tell me what the following diagrams are trying to describe?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CB977F-A9A7-D763-63EA-91CFE40C8402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C173B750-FD85-185F-2D23-328383FB7A1C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02C3C93D-0E50-1CF2-ACD8-75212C62C1A8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3FAB4D-1115-148A-A62C-5DF3311DA601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AB9A3-115B-4A38-FCC6-E47DC7B63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Image of You know I love a good guessing game,">
            <a:extLst>
              <a:ext uri="{FF2B5EF4-FFF2-40B4-BE49-F238E27FC236}">
                <a16:creationId xmlns:a16="http://schemas.microsoft.com/office/drawing/2014/main" id="{27FA0C1C-CA16-C752-02E8-0F2F2A73E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478" y="1845870"/>
            <a:ext cx="7428784" cy="417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879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7D83-EE13-CC51-7098-81E8B370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24F52D-F5DF-C031-C392-7D755F23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183A4A8-BAED-9409-3D98-9B2AA1C045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CD972B-70AB-31D6-A874-46500BD9A549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584EBD8E-9BC4-5F15-3C1D-7A76524B060E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3C54A9A3-7B59-D9B3-8919-E2C1B887FABC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698F74-299B-05D9-54B3-C88CB585AA0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C06BC-9A8A-0CBC-A64D-CF258B1A3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Google Shape;584;p57">
            <a:extLst>
              <a:ext uri="{FF2B5EF4-FFF2-40B4-BE49-F238E27FC236}">
                <a16:creationId xmlns:a16="http://schemas.microsoft.com/office/drawing/2014/main" id="{6B7767ED-4E5B-E102-4E72-42EE939382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539" y="402769"/>
            <a:ext cx="7852221" cy="6169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9699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25CF98C3-1C85-5A1D-F418-02FCF0AB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0">
            <a:extLst>
              <a:ext uri="{FF2B5EF4-FFF2-40B4-BE49-F238E27FC236}">
                <a16:creationId xmlns:a16="http://schemas.microsoft.com/office/drawing/2014/main" id="{90AF85C1-CD9E-2967-948E-8BC328B34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8016" y="567298"/>
            <a:ext cx="10128251" cy="3687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endParaRPr dirty="0"/>
          </a:p>
        </p:txBody>
      </p:sp>
      <p:sp>
        <p:nvSpPr>
          <p:cNvPr id="602" name="Google Shape;602;p60">
            <a:extLst>
              <a:ext uri="{FF2B5EF4-FFF2-40B4-BE49-F238E27FC236}">
                <a16:creationId xmlns:a16="http://schemas.microsoft.com/office/drawing/2014/main" id="{9723638A-704F-838A-DF82-5554F4916863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 rot="-5400000">
            <a:off x="-646800" y="4331367"/>
            <a:ext cx="2831200" cy="3552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endParaRPr/>
          </a:p>
        </p:txBody>
      </p:sp>
      <p:pic>
        <p:nvPicPr>
          <p:cNvPr id="3" name="Google Shape;590;p58">
            <a:extLst>
              <a:ext uri="{FF2B5EF4-FFF2-40B4-BE49-F238E27FC236}">
                <a16:creationId xmlns:a16="http://schemas.microsoft.com/office/drawing/2014/main" id="{3B116BF9-5EDB-8467-44AF-FC4D9EE90FB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016" y="73377"/>
            <a:ext cx="8816679" cy="6784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954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7728C-57CF-3E9E-8C12-6860A6799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1D823D1-B7D8-A6F1-766D-C5CB834D5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40067F2-A909-E341-88AE-E6E705588B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D5F059-2538-AE96-8F4C-28DCD2C0B235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6A48E7F6-05A8-5227-E4DB-AE25761B974E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1B395717-7AEE-9276-8D53-E558D9D6EEAC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3FB2513-9405-F200-45CE-43F0BC40EAEB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51A2E-9E17-4330-BEBD-C08D6A8DB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Google Shape;596;p59">
            <a:extLst>
              <a:ext uri="{FF2B5EF4-FFF2-40B4-BE49-F238E27FC236}">
                <a16:creationId xmlns:a16="http://schemas.microsoft.com/office/drawing/2014/main" id="{2584C925-AEC6-911E-248F-EC7D0B2D302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739" y="431799"/>
            <a:ext cx="7654134" cy="59943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70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1239-2DA3-448B-B57F-B35B01C9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8EC2C3C-BFDD-6DF9-6F97-C54DAB2D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What’s wrong with the previous diagrams?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A3F288-97F1-E830-14FA-75C7383492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B94128-06C4-139D-341B-4D1E0EB38EED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D9118010-9C57-F461-3240-F0EA0544FF3C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83C5EE8D-9F9D-0A83-F811-548EA12CB004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042D3C5-56BE-9F05-C124-180883AD28E5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35A57-06A3-0988-6466-A2F161CA4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8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20AF-6E36-6A38-627A-06BD5C7A4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CDA308-C76D-7B8E-61B8-EB5E48CD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What’s wrong with the previous diagrams?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DB69438-633A-F986-37DB-8CFEF1C4EF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0D7B216-340B-1C80-6009-36EFCE2129B1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C9F69C93-BCFC-8157-530E-40E2EE817276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69F04E3B-C389-7D44-E44E-6C99A7A9B08C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679D9F0-5470-A74B-39C0-82B24F3535AF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Google Shape;608;p61">
            <a:extLst>
              <a:ext uri="{FF2B5EF4-FFF2-40B4-BE49-F238E27FC236}">
                <a16:creationId xmlns:a16="http://schemas.microsoft.com/office/drawing/2014/main" id="{D22E3E98-9158-BF61-14D4-D13372E26E23}"/>
              </a:ext>
            </a:extLst>
          </p:cNvPr>
          <p:cNvSpPr txBox="1">
            <a:spLocks/>
          </p:cNvSpPr>
          <p:nvPr/>
        </p:nvSpPr>
        <p:spPr>
          <a:xfrm>
            <a:off x="1105020" y="2746602"/>
            <a:ext cx="2516007" cy="26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Everyone seems to have their own standard of drawing diagrams</a:t>
            </a:r>
            <a:endParaRPr lang="en-ID" sz="1600" dirty="0"/>
          </a:p>
        </p:txBody>
      </p:sp>
      <p:sp>
        <p:nvSpPr>
          <p:cNvPr id="38" name="Google Shape;610;p61">
            <a:extLst>
              <a:ext uri="{FF2B5EF4-FFF2-40B4-BE49-F238E27FC236}">
                <a16:creationId xmlns:a16="http://schemas.microsoft.com/office/drawing/2014/main" id="{B0C48A12-B16C-83BC-4570-B50481C98291}"/>
              </a:ext>
            </a:extLst>
          </p:cNvPr>
          <p:cNvSpPr txBox="1">
            <a:spLocks/>
          </p:cNvSpPr>
          <p:nvPr/>
        </p:nvSpPr>
        <p:spPr>
          <a:xfrm>
            <a:off x="714138" y="172192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No consistent methodology</a:t>
            </a:r>
          </a:p>
        </p:txBody>
      </p:sp>
      <p:grpSp>
        <p:nvGrpSpPr>
          <p:cNvPr id="41" name="Google Shape;614;p61">
            <a:extLst>
              <a:ext uri="{FF2B5EF4-FFF2-40B4-BE49-F238E27FC236}">
                <a16:creationId xmlns:a16="http://schemas.microsoft.com/office/drawing/2014/main" id="{F6DA16F3-DB1B-5B51-36D4-11A393C70C0D}"/>
              </a:ext>
            </a:extLst>
          </p:cNvPr>
          <p:cNvGrpSpPr/>
          <p:nvPr/>
        </p:nvGrpSpPr>
        <p:grpSpPr>
          <a:xfrm>
            <a:off x="623473" y="2710985"/>
            <a:ext cx="326501" cy="395100"/>
            <a:chOff x="1078549" y="1823750"/>
            <a:chExt cx="326501" cy="395100"/>
          </a:xfrm>
        </p:grpSpPr>
        <p:sp>
          <p:nvSpPr>
            <p:cNvPr id="42" name="Google Shape;615;p61">
              <a:extLst>
                <a:ext uri="{FF2B5EF4-FFF2-40B4-BE49-F238E27FC236}">
                  <a16:creationId xmlns:a16="http://schemas.microsoft.com/office/drawing/2014/main" id="{7B6D2533-A484-F8AC-1E9D-70D88C534F8D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3" name="Google Shape;616;p61">
              <a:extLst>
                <a:ext uri="{FF2B5EF4-FFF2-40B4-BE49-F238E27FC236}">
                  <a16:creationId xmlns:a16="http://schemas.microsoft.com/office/drawing/2014/main" id="{4DF338F0-96C6-2A0E-C39E-E63D65380266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</a:t>
              </a:r>
              <a:endParaRPr sz="11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50" name="Google Shape;623;p61">
            <a:extLst>
              <a:ext uri="{FF2B5EF4-FFF2-40B4-BE49-F238E27FC236}">
                <a16:creationId xmlns:a16="http://schemas.microsoft.com/office/drawing/2014/main" id="{A5784707-F4D6-CF7A-FB67-7BE052A7CC6A}"/>
              </a:ext>
            </a:extLst>
          </p:cNvPr>
          <p:cNvCxnSpPr/>
          <p:nvPr/>
        </p:nvCxnSpPr>
        <p:spPr>
          <a:xfrm>
            <a:off x="795468" y="318875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968304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B52A9-3CAF-6DDD-6678-7927911A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C31DB81-E35F-563F-4EB2-04CD6AAF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What’s wrong with the previous diagrams?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3AA6241-36CC-C572-6048-8BCB52A08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8A55C3-66EE-FBC0-F8A3-772764BAB6C0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02930903-1720-832C-9066-506674CB05F3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217F3B8E-D066-E744-9B7C-602D164A5427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64D046E-226F-BD48-B494-B5CB178C1B0E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Google Shape;607;p61">
            <a:extLst>
              <a:ext uri="{FF2B5EF4-FFF2-40B4-BE49-F238E27FC236}">
                <a16:creationId xmlns:a16="http://schemas.microsoft.com/office/drawing/2014/main" id="{60FACF10-B41C-3070-BDE5-6344B6A09E57}"/>
              </a:ext>
            </a:extLst>
          </p:cNvPr>
          <p:cNvSpPr txBox="1">
            <a:spLocks/>
          </p:cNvSpPr>
          <p:nvPr/>
        </p:nvSpPr>
        <p:spPr>
          <a:xfrm>
            <a:off x="4708556" y="2715632"/>
            <a:ext cx="2668503" cy="2671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Quite often, the author seems to assume the audience knows a lot of missing context that is not obvious </a:t>
            </a:r>
            <a:endParaRPr lang="en-ID" sz="1600" dirty="0"/>
          </a:p>
        </p:txBody>
      </p:sp>
      <p:sp>
        <p:nvSpPr>
          <p:cNvPr id="36" name="Google Shape;608;p61">
            <a:extLst>
              <a:ext uri="{FF2B5EF4-FFF2-40B4-BE49-F238E27FC236}">
                <a16:creationId xmlns:a16="http://schemas.microsoft.com/office/drawing/2014/main" id="{32A82267-063D-ED62-E748-D5FD7A41110F}"/>
              </a:ext>
            </a:extLst>
          </p:cNvPr>
          <p:cNvSpPr txBox="1">
            <a:spLocks/>
          </p:cNvSpPr>
          <p:nvPr/>
        </p:nvSpPr>
        <p:spPr>
          <a:xfrm>
            <a:off x="1105020" y="2746602"/>
            <a:ext cx="2516007" cy="26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Everyone seems to have their own standard of drawing diagrams</a:t>
            </a:r>
            <a:endParaRPr lang="en-ID" sz="1600" dirty="0"/>
          </a:p>
        </p:txBody>
      </p:sp>
      <p:sp>
        <p:nvSpPr>
          <p:cNvPr id="38" name="Google Shape;610;p61">
            <a:extLst>
              <a:ext uri="{FF2B5EF4-FFF2-40B4-BE49-F238E27FC236}">
                <a16:creationId xmlns:a16="http://schemas.microsoft.com/office/drawing/2014/main" id="{E9A709BA-F8A6-2408-4A0D-AFCB9D6C542E}"/>
              </a:ext>
            </a:extLst>
          </p:cNvPr>
          <p:cNvSpPr txBox="1">
            <a:spLocks/>
          </p:cNvSpPr>
          <p:nvPr/>
        </p:nvSpPr>
        <p:spPr>
          <a:xfrm>
            <a:off x="714138" y="172192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No consistent methodology</a:t>
            </a:r>
          </a:p>
        </p:txBody>
      </p:sp>
      <p:sp>
        <p:nvSpPr>
          <p:cNvPr id="39" name="Google Shape;611;p61">
            <a:extLst>
              <a:ext uri="{FF2B5EF4-FFF2-40B4-BE49-F238E27FC236}">
                <a16:creationId xmlns:a16="http://schemas.microsoft.com/office/drawing/2014/main" id="{2FC324E7-AD78-4DB0-8327-609DFD03EDA0}"/>
              </a:ext>
            </a:extLst>
          </p:cNvPr>
          <p:cNvSpPr txBox="1">
            <a:spLocks/>
          </p:cNvSpPr>
          <p:nvPr/>
        </p:nvSpPr>
        <p:spPr>
          <a:xfrm>
            <a:off x="4246049" y="170096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A lot of context is missing</a:t>
            </a:r>
          </a:p>
        </p:txBody>
      </p:sp>
      <p:grpSp>
        <p:nvGrpSpPr>
          <p:cNvPr id="41" name="Google Shape;614;p61">
            <a:extLst>
              <a:ext uri="{FF2B5EF4-FFF2-40B4-BE49-F238E27FC236}">
                <a16:creationId xmlns:a16="http://schemas.microsoft.com/office/drawing/2014/main" id="{BECC6916-1C38-F0C2-8CB8-9252633FFA46}"/>
              </a:ext>
            </a:extLst>
          </p:cNvPr>
          <p:cNvGrpSpPr/>
          <p:nvPr/>
        </p:nvGrpSpPr>
        <p:grpSpPr>
          <a:xfrm>
            <a:off x="623473" y="2710985"/>
            <a:ext cx="326501" cy="395100"/>
            <a:chOff x="1078549" y="1823750"/>
            <a:chExt cx="326501" cy="395100"/>
          </a:xfrm>
        </p:grpSpPr>
        <p:sp>
          <p:nvSpPr>
            <p:cNvPr id="42" name="Google Shape;615;p61">
              <a:extLst>
                <a:ext uri="{FF2B5EF4-FFF2-40B4-BE49-F238E27FC236}">
                  <a16:creationId xmlns:a16="http://schemas.microsoft.com/office/drawing/2014/main" id="{24E818DD-1AAE-5A5F-A851-13EB84DB967F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3" name="Google Shape;616;p61">
              <a:extLst>
                <a:ext uri="{FF2B5EF4-FFF2-40B4-BE49-F238E27FC236}">
                  <a16:creationId xmlns:a16="http://schemas.microsoft.com/office/drawing/2014/main" id="{62F630C4-AC6A-9687-878C-B8BDC2EA6545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</a:t>
              </a:r>
              <a:endParaRPr sz="11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44" name="Google Shape;617;p61">
            <a:extLst>
              <a:ext uri="{FF2B5EF4-FFF2-40B4-BE49-F238E27FC236}">
                <a16:creationId xmlns:a16="http://schemas.microsoft.com/office/drawing/2014/main" id="{01E2F5D5-0CFA-D2D6-4A67-95491608DEAD}"/>
              </a:ext>
            </a:extLst>
          </p:cNvPr>
          <p:cNvGrpSpPr/>
          <p:nvPr/>
        </p:nvGrpSpPr>
        <p:grpSpPr>
          <a:xfrm>
            <a:off x="4226973" y="2680015"/>
            <a:ext cx="326501" cy="395100"/>
            <a:chOff x="1078549" y="1823750"/>
            <a:chExt cx="326501" cy="395100"/>
          </a:xfrm>
        </p:grpSpPr>
        <p:sp>
          <p:nvSpPr>
            <p:cNvPr id="45" name="Google Shape;618;p61">
              <a:extLst>
                <a:ext uri="{FF2B5EF4-FFF2-40B4-BE49-F238E27FC236}">
                  <a16:creationId xmlns:a16="http://schemas.microsoft.com/office/drawing/2014/main" id="{42D2C0FC-6DE6-A2A7-638F-9CCB83BA2F87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6" name="Google Shape;619;p61">
              <a:extLst>
                <a:ext uri="{FF2B5EF4-FFF2-40B4-BE49-F238E27FC236}">
                  <a16:creationId xmlns:a16="http://schemas.microsoft.com/office/drawing/2014/main" id="{182CEEBF-DA61-3375-FD0F-F34718AD822C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</a:t>
              </a:r>
              <a:endPara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50" name="Google Shape;623;p61">
            <a:extLst>
              <a:ext uri="{FF2B5EF4-FFF2-40B4-BE49-F238E27FC236}">
                <a16:creationId xmlns:a16="http://schemas.microsoft.com/office/drawing/2014/main" id="{1F0E0067-D9EB-CA89-155E-1B758155B8F7}"/>
              </a:ext>
            </a:extLst>
          </p:cNvPr>
          <p:cNvCxnSpPr/>
          <p:nvPr/>
        </p:nvCxnSpPr>
        <p:spPr>
          <a:xfrm>
            <a:off x="795468" y="318875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624;p61">
            <a:extLst>
              <a:ext uri="{FF2B5EF4-FFF2-40B4-BE49-F238E27FC236}">
                <a16:creationId xmlns:a16="http://schemas.microsoft.com/office/drawing/2014/main" id="{4B8B9A1E-A980-B5A3-2128-461F220D300B}"/>
              </a:ext>
            </a:extLst>
          </p:cNvPr>
          <p:cNvCxnSpPr/>
          <p:nvPr/>
        </p:nvCxnSpPr>
        <p:spPr>
          <a:xfrm>
            <a:off x="4398968" y="315778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4911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36D67-945C-E435-837E-0DB2B9017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29E4F7-E3CB-05C7-B761-87614BED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What’s wrong with the previous diagrams?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427D76-80F3-DFA4-011D-25D4ED533F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395BBB1-5626-59F7-21EC-184BD8C131A1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13687C52-75A2-6904-1479-B0E428D78040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98A3DB8D-B573-CD2E-DDAD-DD47BB63D7BB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2E02B05-ECE0-8F69-BA0F-99E5FE588D71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Google Shape;607;p61">
            <a:extLst>
              <a:ext uri="{FF2B5EF4-FFF2-40B4-BE49-F238E27FC236}">
                <a16:creationId xmlns:a16="http://schemas.microsoft.com/office/drawing/2014/main" id="{90DCED94-B42D-CD65-E5D7-6BFA5C154E86}"/>
              </a:ext>
            </a:extLst>
          </p:cNvPr>
          <p:cNvSpPr txBox="1">
            <a:spLocks/>
          </p:cNvSpPr>
          <p:nvPr/>
        </p:nvSpPr>
        <p:spPr>
          <a:xfrm>
            <a:off x="4708556" y="2715632"/>
            <a:ext cx="2668503" cy="2671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Quite often, the author seems to assume the audience knows a lot of missing context that is not obvious </a:t>
            </a:r>
            <a:endParaRPr lang="en-ID" sz="1600" dirty="0"/>
          </a:p>
        </p:txBody>
      </p:sp>
      <p:sp>
        <p:nvSpPr>
          <p:cNvPr id="36" name="Google Shape;608;p61">
            <a:extLst>
              <a:ext uri="{FF2B5EF4-FFF2-40B4-BE49-F238E27FC236}">
                <a16:creationId xmlns:a16="http://schemas.microsoft.com/office/drawing/2014/main" id="{DE35DC38-5E7E-F078-E62C-E68B0A0DC3B5}"/>
              </a:ext>
            </a:extLst>
          </p:cNvPr>
          <p:cNvSpPr txBox="1">
            <a:spLocks/>
          </p:cNvSpPr>
          <p:nvPr/>
        </p:nvSpPr>
        <p:spPr>
          <a:xfrm>
            <a:off x="1105020" y="2746602"/>
            <a:ext cx="2516007" cy="26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Everyone seems to have their own standard of drawing diagrams</a:t>
            </a:r>
            <a:endParaRPr lang="en-ID" sz="1600" dirty="0"/>
          </a:p>
        </p:txBody>
      </p:sp>
      <p:sp>
        <p:nvSpPr>
          <p:cNvPr id="37" name="Google Shape;609;p61">
            <a:extLst>
              <a:ext uri="{FF2B5EF4-FFF2-40B4-BE49-F238E27FC236}">
                <a16:creationId xmlns:a16="http://schemas.microsoft.com/office/drawing/2014/main" id="{F99720AA-3C96-97A6-FE36-41E5602AB394}"/>
              </a:ext>
            </a:extLst>
          </p:cNvPr>
          <p:cNvSpPr txBox="1">
            <a:spLocks/>
          </p:cNvSpPr>
          <p:nvPr/>
        </p:nvSpPr>
        <p:spPr>
          <a:xfrm>
            <a:off x="8416327" y="2688395"/>
            <a:ext cx="2152707" cy="26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Why should System Diagrams only be used by Developers? </a:t>
            </a:r>
            <a:endParaRPr lang="en-ID" sz="1600" dirty="0"/>
          </a:p>
        </p:txBody>
      </p:sp>
      <p:sp>
        <p:nvSpPr>
          <p:cNvPr id="38" name="Google Shape;610;p61">
            <a:extLst>
              <a:ext uri="{FF2B5EF4-FFF2-40B4-BE49-F238E27FC236}">
                <a16:creationId xmlns:a16="http://schemas.microsoft.com/office/drawing/2014/main" id="{D2F34A3A-7383-1A2E-E610-2FAEA6EBEEA5}"/>
              </a:ext>
            </a:extLst>
          </p:cNvPr>
          <p:cNvSpPr txBox="1">
            <a:spLocks/>
          </p:cNvSpPr>
          <p:nvPr/>
        </p:nvSpPr>
        <p:spPr>
          <a:xfrm>
            <a:off x="714138" y="172192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No consistent methodology</a:t>
            </a:r>
          </a:p>
        </p:txBody>
      </p:sp>
      <p:sp>
        <p:nvSpPr>
          <p:cNvPr id="39" name="Google Shape;611;p61">
            <a:extLst>
              <a:ext uri="{FF2B5EF4-FFF2-40B4-BE49-F238E27FC236}">
                <a16:creationId xmlns:a16="http://schemas.microsoft.com/office/drawing/2014/main" id="{2CF36110-DAF5-33D7-A290-F9F61F1778FF}"/>
              </a:ext>
            </a:extLst>
          </p:cNvPr>
          <p:cNvSpPr txBox="1">
            <a:spLocks/>
          </p:cNvSpPr>
          <p:nvPr/>
        </p:nvSpPr>
        <p:spPr>
          <a:xfrm>
            <a:off x="4246049" y="170096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A lot of context is missing</a:t>
            </a:r>
          </a:p>
        </p:txBody>
      </p:sp>
      <p:sp>
        <p:nvSpPr>
          <p:cNvPr id="40" name="Google Shape;612;p61">
            <a:extLst>
              <a:ext uri="{FF2B5EF4-FFF2-40B4-BE49-F238E27FC236}">
                <a16:creationId xmlns:a16="http://schemas.microsoft.com/office/drawing/2014/main" id="{9AB06692-DE7C-F516-CA78-170CCCE48BEB}"/>
              </a:ext>
            </a:extLst>
          </p:cNvPr>
          <p:cNvSpPr txBox="1">
            <a:spLocks/>
          </p:cNvSpPr>
          <p:nvPr/>
        </p:nvSpPr>
        <p:spPr>
          <a:xfrm>
            <a:off x="7953912" y="168000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Intended audience could be bigger</a:t>
            </a:r>
          </a:p>
        </p:txBody>
      </p:sp>
      <p:grpSp>
        <p:nvGrpSpPr>
          <p:cNvPr id="41" name="Google Shape;614;p61">
            <a:extLst>
              <a:ext uri="{FF2B5EF4-FFF2-40B4-BE49-F238E27FC236}">
                <a16:creationId xmlns:a16="http://schemas.microsoft.com/office/drawing/2014/main" id="{C86254E6-1B34-01DE-F980-2441849AFE06}"/>
              </a:ext>
            </a:extLst>
          </p:cNvPr>
          <p:cNvGrpSpPr/>
          <p:nvPr/>
        </p:nvGrpSpPr>
        <p:grpSpPr>
          <a:xfrm>
            <a:off x="623473" y="2710985"/>
            <a:ext cx="326501" cy="395100"/>
            <a:chOff x="1078549" y="1823750"/>
            <a:chExt cx="326501" cy="395100"/>
          </a:xfrm>
        </p:grpSpPr>
        <p:sp>
          <p:nvSpPr>
            <p:cNvPr id="42" name="Google Shape;615;p61">
              <a:extLst>
                <a:ext uri="{FF2B5EF4-FFF2-40B4-BE49-F238E27FC236}">
                  <a16:creationId xmlns:a16="http://schemas.microsoft.com/office/drawing/2014/main" id="{BFC465D2-C8BF-1D78-F086-C843E713154F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3" name="Google Shape;616;p61">
              <a:extLst>
                <a:ext uri="{FF2B5EF4-FFF2-40B4-BE49-F238E27FC236}">
                  <a16:creationId xmlns:a16="http://schemas.microsoft.com/office/drawing/2014/main" id="{38D37371-5B55-1F6C-2DF5-66366980E907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</a:t>
              </a:r>
              <a:endParaRPr sz="11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44" name="Google Shape;617;p61">
            <a:extLst>
              <a:ext uri="{FF2B5EF4-FFF2-40B4-BE49-F238E27FC236}">
                <a16:creationId xmlns:a16="http://schemas.microsoft.com/office/drawing/2014/main" id="{85266172-D0AE-ADE4-96F0-BC0BA8DC12B4}"/>
              </a:ext>
            </a:extLst>
          </p:cNvPr>
          <p:cNvGrpSpPr/>
          <p:nvPr/>
        </p:nvGrpSpPr>
        <p:grpSpPr>
          <a:xfrm>
            <a:off x="4226973" y="2680015"/>
            <a:ext cx="326501" cy="395100"/>
            <a:chOff x="1078549" y="1823750"/>
            <a:chExt cx="326501" cy="395100"/>
          </a:xfrm>
        </p:grpSpPr>
        <p:sp>
          <p:nvSpPr>
            <p:cNvPr id="45" name="Google Shape;618;p61">
              <a:extLst>
                <a:ext uri="{FF2B5EF4-FFF2-40B4-BE49-F238E27FC236}">
                  <a16:creationId xmlns:a16="http://schemas.microsoft.com/office/drawing/2014/main" id="{2D90A3D8-A528-BEEE-8E14-F2295C030867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6" name="Google Shape;619;p61">
              <a:extLst>
                <a:ext uri="{FF2B5EF4-FFF2-40B4-BE49-F238E27FC236}">
                  <a16:creationId xmlns:a16="http://schemas.microsoft.com/office/drawing/2014/main" id="{7FE32054-E330-0BA2-4664-92C3BBCF09B1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</a:t>
              </a:r>
              <a:endPara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47" name="Google Shape;620;p61">
            <a:extLst>
              <a:ext uri="{FF2B5EF4-FFF2-40B4-BE49-F238E27FC236}">
                <a16:creationId xmlns:a16="http://schemas.microsoft.com/office/drawing/2014/main" id="{90F6C413-1304-FC7B-7ACC-D2C1E00B6ED1}"/>
              </a:ext>
            </a:extLst>
          </p:cNvPr>
          <p:cNvGrpSpPr/>
          <p:nvPr/>
        </p:nvGrpSpPr>
        <p:grpSpPr>
          <a:xfrm>
            <a:off x="7934708" y="2652778"/>
            <a:ext cx="326501" cy="395100"/>
            <a:chOff x="1078549" y="1823750"/>
            <a:chExt cx="326501" cy="395100"/>
          </a:xfrm>
        </p:grpSpPr>
        <p:sp>
          <p:nvSpPr>
            <p:cNvPr id="48" name="Google Shape;621;p61">
              <a:extLst>
                <a:ext uri="{FF2B5EF4-FFF2-40B4-BE49-F238E27FC236}">
                  <a16:creationId xmlns:a16="http://schemas.microsoft.com/office/drawing/2014/main" id="{1276F61D-CB86-5D96-04E8-218C5B5E79EF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622;p61">
              <a:extLst>
                <a:ext uri="{FF2B5EF4-FFF2-40B4-BE49-F238E27FC236}">
                  <a16:creationId xmlns:a16="http://schemas.microsoft.com/office/drawing/2014/main" id="{59C2611C-C7F2-A37D-E5EA-D334EDCAEC18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</a:t>
              </a:r>
              <a:endPara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50" name="Google Shape;623;p61">
            <a:extLst>
              <a:ext uri="{FF2B5EF4-FFF2-40B4-BE49-F238E27FC236}">
                <a16:creationId xmlns:a16="http://schemas.microsoft.com/office/drawing/2014/main" id="{3C623187-C08A-AFA5-BE15-7EADDC158BD6}"/>
              </a:ext>
            </a:extLst>
          </p:cNvPr>
          <p:cNvCxnSpPr/>
          <p:nvPr/>
        </p:nvCxnSpPr>
        <p:spPr>
          <a:xfrm>
            <a:off x="795468" y="318875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624;p61">
            <a:extLst>
              <a:ext uri="{FF2B5EF4-FFF2-40B4-BE49-F238E27FC236}">
                <a16:creationId xmlns:a16="http://schemas.microsoft.com/office/drawing/2014/main" id="{D0768794-B7FF-8E66-FB01-1B84E5AFBF4F}"/>
              </a:ext>
            </a:extLst>
          </p:cNvPr>
          <p:cNvCxnSpPr/>
          <p:nvPr/>
        </p:nvCxnSpPr>
        <p:spPr>
          <a:xfrm>
            <a:off x="4398968" y="315778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625;p61">
            <a:extLst>
              <a:ext uri="{FF2B5EF4-FFF2-40B4-BE49-F238E27FC236}">
                <a16:creationId xmlns:a16="http://schemas.microsoft.com/office/drawing/2014/main" id="{8C74C38B-6B52-1CC6-4C55-C5D600B6F11E}"/>
              </a:ext>
            </a:extLst>
          </p:cNvPr>
          <p:cNvCxnSpPr/>
          <p:nvPr/>
        </p:nvCxnSpPr>
        <p:spPr>
          <a:xfrm>
            <a:off x="8095817" y="3130552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04446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D81B-AE9E-1E89-B75C-8607F4F50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C7787B8-41D0-7983-50FA-7128F714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Common Problems with System Diagrams	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796DFBC-7169-213D-B3E4-B540D4EED0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424724-3368-1FD9-ECBF-9BAD962809EE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FBB6962E-6F3A-8F6C-9529-ECA6AC1DB119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A5EC38E3-EA49-903F-AC3C-A0EF26A66931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EE8FA64-E609-CD53-827C-4C759833B577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2F324A-B1CC-CE25-3076-D14D4537A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2000" dirty="0"/>
              <a:t> • Levels of </a:t>
            </a:r>
            <a:r>
              <a:rPr lang="en-ID" sz="2000" b="1" dirty="0"/>
              <a:t>abstraction</a:t>
            </a:r>
            <a:r>
              <a:rPr lang="en-ID" sz="2000" dirty="0"/>
              <a:t> are </a:t>
            </a:r>
            <a:r>
              <a:rPr lang="en-ID" sz="2000" b="1" dirty="0"/>
              <a:t>mixed</a:t>
            </a:r>
            <a:r>
              <a:rPr lang="en-ID" sz="2000" dirty="0"/>
              <a:t>.				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Notation</a:t>
            </a:r>
            <a:r>
              <a:rPr lang="en-ID" sz="2000" dirty="0"/>
              <a:t> (e.g. colour coding, shapes, etc) is not explained or is inconsistent.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The </a:t>
            </a:r>
            <a:r>
              <a:rPr lang="en-ID" sz="2000" b="1" dirty="0"/>
              <a:t>purpose</a:t>
            </a:r>
            <a:r>
              <a:rPr lang="en-ID" sz="2000" dirty="0"/>
              <a:t> and meaning of elements is ambiguous.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Relationships</a:t>
            </a:r>
            <a:r>
              <a:rPr lang="en-ID" sz="2000" dirty="0"/>
              <a:t> between elements are missing or ambiguous.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5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64A5-FAFA-E6B1-D7E3-511D5F34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204D8C8-2F26-22C4-A968-59205270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Common Problems with System Diagrams	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D24B141-0801-8DF8-4A1E-BD9308B09D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4CFA6A3-0670-4765-FA8D-40BC9876315A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863DA9E1-EB4B-B3CC-5E3E-6790C7FEBAD3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716B58FB-646A-CA34-36A8-A23451FF36A9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9EED1FA-219A-3125-EEF8-0BC08325FF6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4E2F7-0429-316B-0CB9-184FDC053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2000" dirty="0"/>
              <a:t> • Levels of </a:t>
            </a:r>
            <a:r>
              <a:rPr lang="en-ID" sz="2000" b="1" dirty="0"/>
              <a:t>abstraction</a:t>
            </a:r>
            <a:r>
              <a:rPr lang="en-ID" sz="2000" dirty="0"/>
              <a:t> are </a:t>
            </a:r>
            <a:r>
              <a:rPr lang="en-ID" sz="2000" b="1" dirty="0"/>
              <a:t>mixed</a:t>
            </a:r>
            <a:r>
              <a:rPr lang="en-ID" sz="2000" dirty="0"/>
              <a:t>.				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Notation</a:t>
            </a:r>
            <a:r>
              <a:rPr lang="en-ID" sz="2000" dirty="0"/>
              <a:t> (e.g. colour coding, shapes, etc) is not explained or is inconsistent.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The </a:t>
            </a:r>
            <a:r>
              <a:rPr lang="en-ID" sz="2000" b="1" dirty="0"/>
              <a:t>purpose</a:t>
            </a:r>
            <a:r>
              <a:rPr lang="en-ID" sz="2000" dirty="0"/>
              <a:t> and meaning of elements is ambiguous.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Relationships</a:t>
            </a:r>
            <a:r>
              <a:rPr lang="en-ID" sz="2000" dirty="0"/>
              <a:t> between elements are missing or ambiguous.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Generic terms</a:t>
            </a:r>
            <a:r>
              <a:rPr lang="en-ID" sz="2000" dirty="0"/>
              <a:t> such as “business logic” are used.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Technology choices</a:t>
            </a:r>
            <a:r>
              <a:rPr lang="en-ID" sz="2000" dirty="0"/>
              <a:t> (or options, if doing up front design) are omitted.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Too </a:t>
            </a:r>
            <a:r>
              <a:rPr lang="en-ID" sz="2000" b="1" dirty="0"/>
              <a:t>much</a:t>
            </a:r>
            <a:r>
              <a:rPr lang="en-ID" sz="2000" dirty="0"/>
              <a:t> or too </a:t>
            </a:r>
            <a:r>
              <a:rPr lang="en-ID" sz="2000" b="1" dirty="0"/>
              <a:t>little</a:t>
            </a:r>
            <a:r>
              <a:rPr lang="en-ID" sz="2000" dirty="0"/>
              <a:t> </a:t>
            </a:r>
            <a:r>
              <a:rPr lang="en-ID" sz="2000" b="1" dirty="0"/>
              <a:t>detail</a:t>
            </a:r>
            <a:r>
              <a:rPr lang="en-ID" sz="2000" dirty="0"/>
              <a:t>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ID" sz="2000" dirty="0"/>
              <a:t>• </a:t>
            </a:r>
            <a:r>
              <a:rPr lang="en-ID" sz="2000" b="1" dirty="0"/>
              <a:t>No</a:t>
            </a:r>
            <a:r>
              <a:rPr lang="en-ID" sz="2000" dirty="0"/>
              <a:t> </a:t>
            </a:r>
            <a:r>
              <a:rPr lang="en-ID" sz="2000" b="1" dirty="0"/>
              <a:t>context</a:t>
            </a:r>
            <a:r>
              <a:rPr lang="en-ID" sz="2000" dirty="0"/>
              <a:t> or a </a:t>
            </a:r>
            <a:r>
              <a:rPr lang="en-ID" sz="2000" b="1" dirty="0"/>
              <a:t>logical starting point</a:t>
            </a:r>
            <a:r>
              <a:rPr lang="en-ID" sz="2000" dirty="0"/>
              <a:t>.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ID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59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A2B0-6846-CCF0-D16D-41C51E22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67BF4C3-EF60-24A1-E973-48584D07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So what is C4?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CA7305-9333-F002-EE8E-B1FA32B9C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197014-8ACA-E248-00C4-9C4776360C4C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4E9FF87C-23FE-F1AC-05F2-E25B26D97DB4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8AF1AEF2-D4AD-9FAC-20A0-3C6DEA00BB2A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DD7DC8F-E3F3-7641-579F-BCDD88293782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09A90-16BD-C954-6D6C-7A9CD154E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02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BF3CC-6B34-890A-8BF5-C4D72B41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ED68B7-49D8-1A95-AFF7-511F9432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So what is C4?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22AC041-FB3F-1F61-323E-D9E6DBB4FF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363C0D-CD62-AF71-6FB1-CCC599A847EE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451CE78F-E3A3-2D38-6CDF-821DBE2CC71A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59262241-5590-74D2-5282-363E73A124FF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396F644-AFC6-2322-D9FB-FB98AC31F1E8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31DDD-84FB-4A23-7018-E4E8E59CB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Google Shape;641;p63">
            <a:extLst>
              <a:ext uri="{FF2B5EF4-FFF2-40B4-BE49-F238E27FC236}">
                <a16:creationId xmlns:a16="http://schemas.microsoft.com/office/drawing/2014/main" id="{F9043DB3-6317-9991-97DB-8B9A9509F88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097" y="1911618"/>
            <a:ext cx="8075775" cy="41063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5688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A331-3D39-D68C-E48F-83F89FA5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2993AA1-7117-2322-9BC9-4BA8DECBB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dirty="0"/>
              <a:t>So what is C4 (really)?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21D258-A1B8-EA4E-0F80-071C68497F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4549F6-93E9-ECA2-49E0-919E19C84C06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9924B375-2E11-CAE5-B847-F73E3E897684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3C16E7B7-17B0-1718-6E82-CA9F79F4B714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A637570-F100-D106-7CB6-4DD8033DD3C5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C8B1E-D41C-7F41-34BD-7111F16F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600" b="1" dirty="0"/>
              <a:t>Wikipedia</a:t>
            </a:r>
            <a:r>
              <a:rPr lang="en-ID" sz="1600" dirty="0"/>
              <a:t> : “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The </a:t>
            </a:r>
            <a:r>
              <a:rPr lang="en-ID" sz="1600" b="1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C4 model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 is a lean graphical notation technique for modelling the architecture of software systems.</a:t>
            </a:r>
            <a:r>
              <a:rPr lang="en-ID" sz="1600" baseline="30000" dirty="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ID" sz="1600" baseline="30000" dirty="0">
                <a:solidFill>
                  <a:srgbClr val="3366CC"/>
                </a:solidFill>
                <a:highlight>
                  <a:srgbClr val="FFFFFF"/>
                </a:highlight>
                <a:uFill>
                  <a:noFill/>
                </a:uFill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 It is based on a structural </a:t>
            </a:r>
            <a:r>
              <a:rPr lang="en-ID" sz="1600" b="1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decomposition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 of a system into </a:t>
            </a:r>
            <a:r>
              <a:rPr lang="en-ID" sz="1600" b="1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containers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 and </a:t>
            </a:r>
            <a:r>
              <a:rPr lang="en-ID" sz="1600" b="1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components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”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600" dirty="0">
              <a:solidFill>
                <a:srgbClr val="202122"/>
              </a:solidFill>
              <a:highlight>
                <a:srgbClr val="FFFFFF"/>
              </a:highlight>
              <a:ea typeface="Arial"/>
              <a:cs typeface="Arial"/>
              <a:sym typeface="Arial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600" dirty="0">
              <a:solidFill>
                <a:srgbClr val="202122"/>
              </a:solidFill>
              <a:highlight>
                <a:srgbClr val="FFFFFF"/>
              </a:highlight>
              <a:ea typeface="Arial"/>
              <a:cs typeface="Arial"/>
              <a:sym typeface="Arial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600" b="1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My Take 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: “C4 model is an attempt to address deficiencies with traditional diagramming techniques by incorporating an ubiquitous vocabulary of well defined notation and components, to describe a system using multiple diagrams that represent different levels of abstractions and details”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600" dirty="0">
              <a:solidFill>
                <a:srgbClr val="202122"/>
              </a:solidFill>
              <a:highlight>
                <a:srgbClr val="FFFFFF"/>
              </a:highlight>
              <a:ea typeface="Arial"/>
              <a:cs typeface="Arial"/>
              <a:sym typeface="Arial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Invented by </a:t>
            </a:r>
            <a:r>
              <a:rPr lang="en-ID" sz="1600" b="1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Simon Brown</a:t>
            </a:r>
            <a:r>
              <a:rPr lang="en-ID" sz="1600" dirty="0">
                <a:solidFill>
                  <a:srgbClr val="202122"/>
                </a:solidFill>
                <a:highlight>
                  <a:srgbClr val="FFFFFF"/>
                </a:highlight>
                <a:ea typeface="Arial"/>
                <a:cs typeface="Arial"/>
                <a:sym typeface="Arial"/>
              </a:rPr>
              <a:t>, Author, Software Architect &amp; Frequent Flyer from the UK</a:t>
            </a:r>
          </a:p>
          <a:p>
            <a:endParaRPr lang="en-US" dirty="0"/>
          </a:p>
        </p:txBody>
      </p:sp>
      <p:pic>
        <p:nvPicPr>
          <p:cNvPr id="2" name="Google Shape;649;p64">
            <a:extLst>
              <a:ext uri="{FF2B5EF4-FFF2-40B4-BE49-F238E27FC236}">
                <a16:creationId xmlns:a16="http://schemas.microsoft.com/office/drawing/2014/main" id="{4F8BEC20-88E7-B2F4-FD72-DF9027E439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" y="4310062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741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9C84A-A223-9F2C-AEF1-AA23F8BFC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6D1BB36-20EC-300B-1636-6783F741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dirty="0"/>
              <a:t>What is C4 isn’t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8B8C03-9A89-FA0D-8912-7F0D7A70A3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67AFAC-A1BC-5307-3D72-AC8DD55D4DCF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7E4F3A30-DED0-99C7-567D-7787C3B2A50B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E4E529D9-28B9-9E4E-770E-734CE94904B6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B75522D-0B91-7AB6-C163-E7F04E12D1DD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BECE-7F67-7278-090B-CFCF64B15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It is not intended to replace your favourite beloved diagrams like 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/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UML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Entity Relationship diagrams (ERD)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Sequence diagrams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Infrastructure diagrams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Deployment diagrams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Business Process Model Notation (BPMN)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/>
              <a:t>	etc etc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351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5818-3649-71A8-1F67-D2E85833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2ED45A-0DF9-EFE2-9A6E-5659F642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C4 in a nutshell (TLDR)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240B10-5CC7-0424-2A2D-6830964559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18EFA9-2D14-6295-3FB4-4CE547C5FF99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93AF42B4-1B5F-152A-4E78-EAC7D4D9B997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105B6DAD-228E-D470-B48A-7FB763F5BB88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D3E8AB1-0923-C668-3674-2262EC6122B6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E617E-43D1-62F3-0D6B-FE376D160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/>
              <a:t>Think if Google Maps were a system diagram with different zoom levels</a:t>
            </a:r>
            <a:endParaRPr lang="en-US" sz="1600" dirty="0">
              <a:solidFill>
                <a:srgbClr val="202122"/>
              </a:solidFill>
              <a:highlight>
                <a:srgbClr val="FFFFFF"/>
              </a:highlight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  <p:pic>
        <p:nvPicPr>
          <p:cNvPr id="2" name="Google Shape;664;p66">
            <a:extLst>
              <a:ext uri="{FF2B5EF4-FFF2-40B4-BE49-F238E27FC236}">
                <a16:creationId xmlns:a16="http://schemas.microsoft.com/office/drawing/2014/main" id="{8B6157BB-5D0E-9773-2FF5-7E93DDA168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598" t="-7700" r="19692" b="7700"/>
          <a:stretch/>
        </p:blipFill>
        <p:spPr>
          <a:xfrm>
            <a:off x="466724" y="2530010"/>
            <a:ext cx="9356723" cy="25769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48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B2C9-E20B-CFDF-9100-DE40C0B1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E6D305C-CE6E-40D3-1401-027E03D1A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dirty="0"/>
              <a:t>So what are the 4 Cs in C4?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82C708-6972-02D4-76A4-C3AD12D728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799066-882B-1D5F-12FD-80F68B666109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FB952088-A9C4-FDB5-C11A-E31664B9EAA9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C97C530E-C230-2AD5-B058-65390A45E21F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A886B40-1F78-98DF-9EBC-7577DDC98850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671;p67">
            <a:extLst>
              <a:ext uri="{FF2B5EF4-FFF2-40B4-BE49-F238E27FC236}">
                <a16:creationId xmlns:a16="http://schemas.microsoft.com/office/drawing/2014/main" id="{15B6C034-DC1A-B4D2-3DBF-A8BAC78A184C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1160" y="1334403"/>
            <a:ext cx="6589854" cy="49854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5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8E00-3E21-2816-C217-BD77BC97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18580E6-B6A9-FC3A-469F-5A5EFA15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But before we dive deeper into the Cs ….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DDBDF23-F3E9-B10F-A6BF-93FB059878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D" dirty="0"/>
              <a:t>Gotta know your ABCs and some vocabulary first !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C2D9D3-4922-8FF6-0AF4-238A65342F0D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DE867C81-A71F-1141-FEA3-1F95C4D49291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5E27DBB1-459C-4928-276D-330BAD5A0B76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48CCBA5-C926-C08D-28D9-CD4FD553ECC9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0F8F8-ABDF-94D6-0F64-1671CE9C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 Person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Software System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Container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Component </a:t>
            </a:r>
            <a:endParaRPr lang="en-ID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7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F29C-C422-5883-9569-9C875450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5D62D7F-6E7C-EE1B-41BF-DBF34275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But before we dive deeper ….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8F4C13-69DD-C2DD-54D0-0B4F558470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D" dirty="0"/>
              <a:t>Some Vocabulary first !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E5323A-7109-B536-3736-6D85D67D9457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879A9FC0-68B0-C33D-7606-A7AA79A6E8E2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3FDC6D0A-EEDA-8D91-3417-C37C33A82C63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4C3BEE-D2BB-6DAC-EAFB-836DB20CD444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C6818-E597-70AC-38FD-6B4636BE2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 Person  – Any user that is interacting with your System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Software System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Container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Component </a:t>
            </a:r>
            <a:endParaRPr lang="en-ID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875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018A-3A9A-BDD9-1F57-F2643F1B2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FBD34B8-0DC7-4CEF-CFD0-5954BC96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But before we dive deeper ….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DF991A3-115E-BA61-21BB-CA341848A6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D" dirty="0"/>
              <a:t>Some Vocabulary first !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B8C692-2B11-24F8-F572-3972649E7804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AFE3DF1D-4EE7-6318-C5D6-5591223BD1C2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76172A6E-375E-2FF6-C605-B061B4FEB881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D47600B-2F4B-0C3F-308F-9B95C5C242E7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10650-36E3-AA5A-7DE9-AC6819A7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 Person  – Any user that is interacting with your System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Software System – Can be your System or External Systems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Container 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Component </a:t>
            </a:r>
            <a:endParaRPr lang="en-ID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87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E5AB-66DA-FA21-A80E-4D5C8C38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07175C3-426F-C62D-6214-BC76E3C9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But before we dive deeper ….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517B96-9F34-3716-6610-D84D5CF3EC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D" dirty="0"/>
              <a:t>Some Vocabulary first !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285658-82DB-A6DD-721D-D38CA6F906C6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5D4D9A58-77D7-EA7B-4805-9DFDD336810B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6F843D2C-BB20-AFB6-987C-109BF349D5E8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95F565-365A-1913-D81F-2D557597CA40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691A3-6ADF-A1DD-4307-5AB823286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 Person  – Any user that is interacting with your System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Software System – Can be your System or External Systems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Container – Deployable Unit that executes code or stores data    (NOT DOCKER !)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Component </a:t>
            </a:r>
            <a:endParaRPr lang="en-ID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F902-2B4E-CFF1-D6D0-79960148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C87BBAF-2A72-770C-3D67-5A455319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But before we dive deeper …. 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B7B791-05EC-DDAE-AF00-53B9BCB69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D" dirty="0"/>
              <a:t>Some Vocabulary first !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39D99A0-B102-8872-1220-1A9D34C6A0E5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E8DCFB46-ADDD-EDFB-215C-6E29E31EE4B4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CB710BCB-5D69-A39C-A5C7-7E435738DBB9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F38EDE-ED72-893E-40CB-C26757DD9D95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5D95A-4899-DB69-6C7A-A913A338A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 Person  – Any user that is interacting with your System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Software System – Can be your System or External Systems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Container – Deployable Unit that executes code or stores data    (NOT DOCKER !)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Component – Functional unit within a Container that can’t be deployed (</a:t>
            </a:r>
            <a:r>
              <a:rPr lang="en-ID" sz="1800" b="1" dirty="0" err="1">
                <a:latin typeface="Libre Franklin"/>
                <a:ea typeface="Libre Franklin"/>
                <a:cs typeface="Libre Franklin"/>
                <a:sym typeface="Libre Franklin"/>
              </a:rPr>
              <a:t>e.g</a:t>
            </a: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 classes, modules)</a:t>
            </a:r>
            <a:endParaRPr lang="en-ID" sz="1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23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2C4CB-317A-EAB9-AA98-31D85C1D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73B71DE-CFF9-1650-DF7D-5D6650FA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… and some other key features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065572-A188-6704-58E0-93BA068022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B2F057-C14D-BE59-201F-531F7C1AA2E8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1B1757AC-9E9D-8305-E7C1-BD801D06944F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D0F78D4B-652F-A900-1087-617339144D89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4AF676-DD14-0BFC-BDE1-3544A4DED7A5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90CE3-6CCB-F9D0-98F2-CFC259AA4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4907" y="1862139"/>
            <a:ext cx="11256963" cy="4710112"/>
          </a:xfrm>
        </p:spPr>
        <p:txBody>
          <a:bodyPr/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Name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Description – Because names aren’t enough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Arrows have descriptions too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endParaRPr lang="en-ID" sz="1800" b="1" dirty="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Libre Franklin"/>
                <a:ea typeface="Libre Franklin"/>
                <a:cs typeface="Libre Franklin"/>
                <a:sym typeface="Libre Franklin"/>
              </a:rPr>
              <a:t>A Title 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06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5131-9B07-61C8-0CAA-8AE50249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88C97F2-A95B-6052-4ECF-D1FC7C05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L1 - Context (or System Context)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35FBE4-6729-835D-CD2A-21CE2395C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4F78A0-3338-DBCB-5931-3560829C9491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16034BF6-7850-E279-DFFB-12D4AA5A0E41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E0B77617-E707-62D4-D520-D11F7BF72CB2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34EB01-F4BC-A084-4184-791ECA63305D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692;p70">
            <a:extLst>
              <a:ext uri="{FF2B5EF4-FFF2-40B4-BE49-F238E27FC236}">
                <a16:creationId xmlns:a16="http://schemas.microsoft.com/office/drawing/2014/main" id="{E87B1552-3194-0076-D41D-F01384977F95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054" y="1216025"/>
            <a:ext cx="6156595" cy="5094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3240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585B1-54F3-E8F1-129A-0984AAD7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93D096C-4ED7-EA93-79BB-1CAD640C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L1 - Context (or System Context)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5CAC410-BF30-9A6F-3EE7-5B8066A4B3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63E85C-BC07-24EF-971E-1069F8BBF4C1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C1654CB8-5CF8-E590-4531-D7210970FCA2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1C310FA4-EA3E-746D-EEE8-FAEC8976DBF0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5EFB67D-59B8-D6EB-DACB-0B6B5BF05D4F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692;p70">
            <a:extLst>
              <a:ext uri="{FF2B5EF4-FFF2-40B4-BE49-F238E27FC236}">
                <a16:creationId xmlns:a16="http://schemas.microsoft.com/office/drawing/2014/main" id="{E9F3DCED-39BE-5598-C857-D2A31D0E004A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1330" y="1685927"/>
            <a:ext cx="5846683" cy="47101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690EEE-A6AB-154E-D491-EBD8BECA2B7A}"/>
              </a:ext>
            </a:extLst>
          </p:cNvPr>
          <p:cNvSpPr txBox="1"/>
          <p:nvPr/>
        </p:nvSpPr>
        <p:spPr>
          <a:xfrm>
            <a:off x="142504" y="2581020"/>
            <a:ext cx="6151418" cy="2509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The focus is on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People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and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Software Systems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that your system interacts with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The focus is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NOT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on technology, protocol and other low level tech details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Perfect place to show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non technical people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to open up discussions</a:t>
            </a:r>
            <a:r>
              <a:rPr lang="en-ID" sz="1800" dirty="0">
                <a:latin typeface="Libre Franklin"/>
                <a:ea typeface="Libre Franklin"/>
                <a:cs typeface="Libre Franklin"/>
                <a:sym typeface="Libre Franklin"/>
              </a:rPr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01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29B0-40DF-BB7C-7171-9D6B5279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8BDE51B-DFF5-EC87-8549-7A821858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L1 - What is the point of diagrams simple as L1?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85EA11-F7F1-B6D4-51B3-2789E6AD67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C92F1B-259B-9BAD-C28B-C2B76AB83125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63F94717-161D-DF0F-6955-5E71E5B23226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60929D1E-1B23-0D6E-67B5-634DA23478D5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E4D85A-CDD3-FB33-2BF0-F3A93CC2F4AB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63C8A-3F7C-6317-BEC2-7252D7A4D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457200">
              <a:lnSpc>
                <a:spcPct val="110000"/>
              </a:lnSpc>
              <a:spcAft>
                <a:spcPts val="0"/>
              </a:spcAft>
            </a:pP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Simplicity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actually is the key feature here.</a:t>
            </a:r>
          </a:p>
          <a:p>
            <a:pPr lvl="0" indent="457200">
              <a:lnSpc>
                <a:spcPct val="110000"/>
              </a:lnSpc>
              <a:spcAft>
                <a:spcPts val="0"/>
              </a:spcAft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				</a:t>
            </a: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All context and scope of the system is explicit, so there are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NO assumptions.</a:t>
            </a:r>
          </a:p>
          <a:p>
            <a:pPr marL="914400"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ID" sz="1800" b="1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shows what is being added (from a high-level) to an existing environment</a:t>
            </a:r>
          </a:p>
          <a:p>
            <a:pPr marL="914400"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It’s a high-level diagram that technical and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non-technical people can use 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as a starting point for discussions.</a:t>
            </a:r>
          </a:p>
          <a:p>
            <a:pPr lvl="0">
              <a:lnSpc>
                <a:spcPct val="115000"/>
              </a:lnSpc>
              <a:spcAft>
                <a:spcPts val="0"/>
              </a:spcAft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>
              <a:lnSpc>
                <a:spcPct val="115000"/>
              </a:lnSpc>
              <a:spcAft>
                <a:spcPts val="0"/>
              </a:spcAft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provides a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starting point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for identifying who you potentially need to go and talk to as far as understanding inter-system interfaces is concerned.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61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22950-1D2C-D32F-A106-0A11BDAB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144F5B0-7E4A-0D99-0352-7E090652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L2 - Container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6753550-1180-EAB4-4EB8-25922EF494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744808-B4BD-2B59-55B8-9FC1616474F9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2D123F10-B44B-988D-3BBB-D375DD9EC2D2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B03956DC-F33A-9737-8B73-C727A3E48E96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77316DA-B4B0-4923-915E-509418A892D7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20;p74">
            <a:extLst>
              <a:ext uri="{FF2B5EF4-FFF2-40B4-BE49-F238E27FC236}">
                <a16:creationId xmlns:a16="http://schemas.microsoft.com/office/drawing/2014/main" id="{1241BCB5-5A32-4201-0F13-9567AAA37128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749" y="1609725"/>
            <a:ext cx="6638914" cy="4710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7978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C954-5F6B-7F0C-A3D6-F10E19567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02AB89D-1029-B1BA-7584-B2CDA48E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L2 - Container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5559CE-34DC-1DA3-17E4-348845AA86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546C5E-018A-9C72-D5A4-A21E30EC8735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32B3DD58-8AA1-3897-46C6-897572C1BE38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BD9C8903-CAAF-07E2-05F3-603863D799F3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3D96BBA-68A4-AFB7-C3A9-5F53A0EEC7E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20;p74">
            <a:extLst>
              <a:ext uri="{FF2B5EF4-FFF2-40B4-BE49-F238E27FC236}">
                <a16:creationId xmlns:a16="http://schemas.microsoft.com/office/drawing/2014/main" id="{ECFD85F7-DC2D-74E6-6187-9A3307069BE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7069" y="1626739"/>
            <a:ext cx="6638914" cy="47101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8AC511-094D-9F3B-42C1-274B30677ED5}"/>
              </a:ext>
            </a:extLst>
          </p:cNvPr>
          <p:cNvSpPr txBox="1"/>
          <p:nvPr/>
        </p:nvSpPr>
        <p:spPr>
          <a:xfrm>
            <a:off x="236017" y="2022044"/>
            <a:ext cx="4430986" cy="2813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It’s a high-level technology focussed diagram that is useful for technical people like Devs, Architects, Support etc</a:t>
            </a:r>
          </a:p>
          <a:p>
            <a:pPr marL="45720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	</a:t>
            </a:r>
          </a:p>
          <a:p>
            <a:pPr marL="457200" lvl="0" indent="-3175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shows the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major technology choices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, how they are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used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, and how containers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communicate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with each other.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037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C7CF7-041D-396E-E6A6-6EEA80E8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64865B6-DFAF-C351-D4B0-CB0CE8E1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L2 - Container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9BDF869-F260-86F3-65FF-5F4D1510FB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A1B58D-F93D-2ECD-F926-4E24AA6F96DC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419D49AA-5CC7-9689-1DAF-49979FF150A0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66735224-355D-09A6-3D10-3F4E2CC86358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1611117-2F82-20D6-D998-76B21EB92B7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20;p74">
            <a:extLst>
              <a:ext uri="{FF2B5EF4-FFF2-40B4-BE49-F238E27FC236}">
                <a16:creationId xmlns:a16="http://schemas.microsoft.com/office/drawing/2014/main" id="{0778C6C9-21AD-633E-80E3-83AC2C09B70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749" y="1609725"/>
            <a:ext cx="6638914" cy="4710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8831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B144A-B091-3DB7-76AA-5F7A618A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ED0465B-5197-5D8F-69F4-D5503150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L3 - Component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D2F618-99F5-B5CB-C942-0CC237686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042217E-0E29-1832-A39B-A2326038F02C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900AF7EC-B764-BE0A-2133-7D4798EAE72B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C9F323E9-5B0E-013B-F008-6A929C4F7F97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E9146C1-7EAD-433C-A296-F0C6740F8E4A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41;p77">
            <a:extLst>
              <a:ext uri="{FF2B5EF4-FFF2-40B4-BE49-F238E27FC236}">
                <a16:creationId xmlns:a16="http://schemas.microsoft.com/office/drawing/2014/main" id="{F1D68212-39E5-3A53-0167-42036F1AE8F3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22" y="1609725"/>
            <a:ext cx="6653969" cy="4710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5192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348B-6628-9344-9680-DB86DDD7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53E3ADD-40CD-7E89-F378-79387BBF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L3 – Component Level (Key Points)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6BBE272-FC70-7924-67C4-DA51123F13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54DFA3-D05D-C97D-9475-BC05355D9EC3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15C63DC2-98AB-F812-60D6-3B7FCE181B2E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FE234E38-A9DA-0292-5342-66F6D4750BD7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55763A-FD09-0226-0CF4-55BFA1DF64F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69D17-2354-5F74-277C-CF3751C62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shows the high-level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decomposition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of a container into components, each with distinct responsibilities. 						</a:t>
            </a:r>
          </a:p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shows where there are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relationships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and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dependencies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between components.</a:t>
            </a: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						</a:t>
            </a:r>
          </a:p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provides a high-level summary of the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implementation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details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, including any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frameworks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or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libraries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being used.</a:t>
            </a: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						</a:t>
            </a:r>
          </a:p>
          <a:p>
            <a:pPr marL="158750" lvl="0">
              <a:lnSpc>
                <a:spcPct val="115000"/>
              </a:lnSpc>
              <a:spcAft>
                <a:spcPts val="0"/>
              </a:spcAft>
              <a:buSzPts val="1100"/>
            </a:pP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				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14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6266-047B-7720-5054-8971F4FD9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30B3C98-6C10-768B-387C-9BE16EEED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L3 – Component Level (Key Points)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E7CE189-99D7-8E2B-2A4D-FD3562F829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8BDF84-0CF7-79D4-DE3A-6477951D3037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24038754-0963-3C86-3CC4-8F890F0DA9A9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6AC4EE9D-FFD3-59F6-97FE-88D5F2184D2C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8A7FD3A-2C42-FD2C-C57E-97BDDF8B44F7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6F321-F4E8-4C40-E6B3-53E2A4C0F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shows the high-level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decomposition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of a container into components, each with distinct responsibilities. 						</a:t>
            </a:r>
          </a:p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shows where there are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relationships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and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dependencies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between components.</a:t>
            </a: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						</a:t>
            </a:r>
          </a:p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It provides a high-level summary of the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implementation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details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, including any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frameworks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or </a:t>
            </a:r>
            <a:r>
              <a:rPr lang="en-ID" sz="1800" b="1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libraries</a:t>
            </a: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being used.</a:t>
            </a: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						</a:t>
            </a:r>
          </a:p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If the components shown on the diagram can be explicitly mapped to the code, you have a good way to really understand the structure of a codebase. </a:t>
            </a:r>
          </a:p>
          <a:p>
            <a:pPr marL="457200"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C4 diagrams are great for onboarding new technical staff, arguably L3 the most useful to some (and L2 to others)</a:t>
            </a:r>
          </a:p>
          <a:p>
            <a:pPr marL="457200" lv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ID" sz="1800" dirty="0">
              <a:latin typeface="Arial" panose="020B0604020202020204" pitchFamily="34" charset="0"/>
              <a:ea typeface="Libre Franklin"/>
              <a:cs typeface="Arial" panose="020B0604020202020204" pitchFamily="34" charset="0"/>
              <a:sym typeface="Libre Franklin"/>
            </a:endParaRPr>
          </a:p>
          <a:p>
            <a:pPr marL="457200" lvl="0" indent="-29845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Libre Franklin"/>
              <a:buChar char="●"/>
            </a:pP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Might not want to adopt as an optional level of detail for long-lived documentation</a:t>
            </a: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-&gt; Potentially high degree of effort involved in creating the diagrams and keeping them up to date</a:t>
            </a:r>
            <a:b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</a:br>
            <a:r>
              <a:rPr lang="en-ID" sz="1800" dirty="0">
                <a:latin typeface="Arial" panose="020B0604020202020204" pitchFamily="34" charset="0"/>
                <a:ea typeface="Libre Franklin"/>
                <a:cs typeface="Arial" panose="020B0604020202020204" pitchFamily="34" charset="0"/>
                <a:sym typeface="Libre Franklin"/>
              </a:rPr>
              <a:t> 				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10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86541-8235-5AC6-B105-2807CB11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A8F36D7-F217-0241-27AA-06483666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ID" dirty="0"/>
              <a:t>L3 - Component</a:t>
            </a:r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D7D5832-81E2-7730-0A19-012DA988E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16B59F9-1395-C8FB-2E97-27E7207F4C94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89259A17-B4C8-F7C1-EEDE-6A463ADBDC60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2EF1DB7D-999F-0A41-BF2C-A80071FDC7FD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86AD4E8-FB9E-3884-2EE4-9252F8A731BB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41;p77">
            <a:extLst>
              <a:ext uri="{FF2B5EF4-FFF2-40B4-BE49-F238E27FC236}">
                <a16:creationId xmlns:a16="http://schemas.microsoft.com/office/drawing/2014/main" id="{E5AF5B55-8395-10A0-500A-6494DA8D941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22" y="1609725"/>
            <a:ext cx="6653969" cy="4710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04113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B8A2-F974-FA90-7999-E7D83A86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D9DB790-ACEF-60F6-C70D-A184FDBC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L4 - Code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4AC3518-1BE9-33CC-7013-8D1312730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1F8F42-7D9F-948E-A10E-F8F9FC953E0C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1C0FE40C-9EE7-4713-3CC9-CD44AE63313F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276B14E5-A6ED-8570-84CA-3681C2ACA567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DB5004B-F027-C4E0-FE60-DEADBD55636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62;p80">
            <a:extLst>
              <a:ext uri="{FF2B5EF4-FFF2-40B4-BE49-F238E27FC236}">
                <a16:creationId xmlns:a16="http://schemas.microsoft.com/office/drawing/2014/main" id="{F112124A-D4CA-B05D-4755-473A87D76AC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469" y="1295178"/>
            <a:ext cx="6056897" cy="4962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6797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DCE2-39DA-05C4-9D16-F01F70A1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0CE155D-5301-EB0C-4925-2026D773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L4 – Code (</a:t>
            </a:r>
            <a:r>
              <a:rPr lang="en-AU" b="1" dirty="0" err="1"/>
              <a:t>Keypoints</a:t>
            </a:r>
            <a:r>
              <a:rPr lang="en-AU" b="1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175AB7-3F50-DFC0-2F1B-92CAC9FE3B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CD1255-416F-9718-6212-7EAD7E2ED201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B6AB8A50-366B-2697-D876-0289399D1B4D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0665920C-C9FC-DE5F-EB95-5A2A86565F2B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B89D28A-AFFE-5266-7CFE-73560D3D2854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762;p80">
            <a:extLst>
              <a:ext uri="{FF2B5EF4-FFF2-40B4-BE49-F238E27FC236}">
                <a16:creationId xmlns:a16="http://schemas.microsoft.com/office/drawing/2014/main" id="{C6801AFA-CF9E-1CCC-E8F6-019CDCAAC4B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225551"/>
            <a:ext cx="6056897" cy="49625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5F045E-241D-A2F7-C0FD-A929D7F24FEF}"/>
              </a:ext>
            </a:extLst>
          </p:cNvPr>
          <p:cNvSpPr txBox="1"/>
          <p:nvPr/>
        </p:nvSpPr>
        <p:spPr>
          <a:xfrm>
            <a:off x="317665" y="1689424"/>
            <a:ext cx="5275613" cy="4174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ID" dirty="0"/>
              <a:t>Map the high-level, coarse-grained components into real-world code elements.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D" dirty="0"/>
              <a:t> 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ID" dirty="0"/>
              <a:t>It helps to bridge the software </a:t>
            </a:r>
            <a:r>
              <a:rPr lang="en-ID" b="1" dirty="0"/>
              <a:t>architecture</a:t>
            </a:r>
            <a:r>
              <a:rPr lang="en-ID" dirty="0"/>
              <a:t> and the </a:t>
            </a:r>
            <a:r>
              <a:rPr lang="en-ID" b="1" dirty="0"/>
              <a:t>code, </a:t>
            </a:r>
            <a:r>
              <a:rPr lang="en-ID" dirty="0"/>
              <a:t>which are very different.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ID" dirty="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ID" dirty="0"/>
              <a:t>Please use a </a:t>
            </a:r>
            <a:r>
              <a:rPr lang="en-ID" b="1" dirty="0"/>
              <a:t>tool</a:t>
            </a:r>
            <a:r>
              <a:rPr lang="en-ID" dirty="0"/>
              <a:t> to generate this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ID" dirty="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ID" dirty="0"/>
              <a:t>Can get very messy very quickly, so </a:t>
            </a:r>
            <a:r>
              <a:rPr lang="en-ID" b="1" dirty="0"/>
              <a:t>limit your scope</a:t>
            </a:r>
            <a:r>
              <a:rPr lang="en-ID" dirty="0"/>
              <a:t> when generating</a:t>
            </a:r>
          </a:p>
        </p:txBody>
      </p:sp>
    </p:spTree>
    <p:extLst>
      <p:ext uri="{BB962C8B-B14F-4D97-AF65-F5344CB8AC3E}">
        <p14:creationId xmlns:p14="http://schemas.microsoft.com/office/powerpoint/2010/main" val="3440847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D3E22-3797-043E-84F8-019E89EB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B939843-02B4-217F-9D6E-F33D8BFE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Tooling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D2CEA7-F37A-0F6D-C066-2899B49D90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3358A9-D677-DDE6-7CF6-3D2087217EB5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86C747BD-D316-0D03-DC09-BF6BDCEAE64E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13F530FA-21FE-D6E4-CD9C-5DDCA4EC8934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D1886D4-6BD5-A61D-24BB-9126A4CBD68F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4B822F-F78B-BB1F-2A66-8ADD6D434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oogle Shape;792;p83">
            <a:extLst>
              <a:ext uri="{FF2B5EF4-FFF2-40B4-BE49-F238E27FC236}">
                <a16:creationId xmlns:a16="http://schemas.microsoft.com/office/drawing/2014/main" id="{A00879ED-8E29-1957-D09C-5311C59567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429" y="1185517"/>
            <a:ext cx="5849257" cy="5527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59209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45B3-3CAE-0D28-BA8B-2957A90C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2E25-B669-79C0-FC3E-C7D3C1213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66140-E6AD-4122-9997-C667FDEEF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oogle Shape;876;p93">
            <a:extLst>
              <a:ext uri="{FF2B5EF4-FFF2-40B4-BE49-F238E27FC236}">
                <a16:creationId xmlns:a16="http://schemas.microsoft.com/office/drawing/2014/main" id="{FC0B3935-3AE7-E208-5CF5-F61EC60248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864" y="823912"/>
            <a:ext cx="6803164" cy="5102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4244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86919-79D1-50EF-B193-8D5EAD0D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95B56D-12F7-C331-89B8-97F48DFD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List of Tools	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67763D-3FE1-E57A-609D-D01345A95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C8305D-ACF9-F20A-FF22-453D571E64EB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669AD534-CB25-A446-4002-448F5328FF47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2F6036B8-1AFB-04B9-3B6E-498C62BF6E08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51460F-82AE-0B19-57D3-C89B4E228F5C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800;p84">
            <a:extLst>
              <a:ext uri="{FF2B5EF4-FFF2-40B4-BE49-F238E27FC236}">
                <a16:creationId xmlns:a16="http://schemas.microsoft.com/office/drawing/2014/main" id="{914BEBCA-54CF-398B-3007-F1B198D0C7A2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2189391"/>
            <a:ext cx="11256963" cy="3550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74685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620C-7519-D4AA-CADF-7DDA1637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58C400-0521-7CF0-A002-3B802AA1B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List of Tools (</a:t>
            </a:r>
            <a:r>
              <a:rPr lang="en-AU" b="1" dirty="0" err="1"/>
              <a:t>Evaulated</a:t>
            </a:r>
            <a:r>
              <a:rPr lang="en-AU" b="1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F2FA72-AE82-AB4F-43BD-C8B9CC2D6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ECE4DCA-EE1E-2C2D-9300-62B330F84842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39FF5489-E893-41DF-BE5F-D3EA8A55106B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7BC5FC21-13E4-E4C3-274F-C97716516168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344168A-CAFA-A87F-BBF7-A5162C7A5F90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A2A12-4E41-F4A1-BA3D-219DF6158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ID" sz="2000" dirty="0"/>
              <a:t>	</a:t>
            </a:r>
            <a:r>
              <a:rPr lang="en-ID" sz="2000" b="1" dirty="0"/>
              <a:t>Visio (Unfriend me now)</a:t>
            </a:r>
          </a:p>
          <a:p>
            <a:pPr lvl="0">
              <a:spcAft>
                <a:spcPts val="0"/>
              </a:spcAft>
            </a:pPr>
            <a:endParaRPr lang="en-ID" sz="2000" b="1" dirty="0"/>
          </a:p>
          <a:p>
            <a:pPr lvl="0">
              <a:spcAft>
                <a:spcPts val="0"/>
              </a:spcAft>
            </a:pPr>
            <a:r>
              <a:rPr lang="en-ID" sz="2000" b="1" dirty="0"/>
              <a:t>	</a:t>
            </a:r>
            <a:r>
              <a:rPr lang="en-ID" sz="2000" b="1" dirty="0" err="1"/>
              <a:t>Diagrams.net</a:t>
            </a:r>
            <a:r>
              <a:rPr lang="en-ID" sz="2000" b="1" dirty="0"/>
              <a:t> (Formerly </a:t>
            </a:r>
            <a:r>
              <a:rPr lang="en-ID" sz="2000" b="1" dirty="0" err="1"/>
              <a:t>Draw.io</a:t>
            </a:r>
            <a:r>
              <a:rPr lang="en-ID" sz="2000" b="1" dirty="0"/>
              <a:t>)</a:t>
            </a:r>
          </a:p>
          <a:p>
            <a:pPr lvl="0">
              <a:spcAft>
                <a:spcPts val="0"/>
              </a:spcAft>
            </a:pPr>
            <a:endParaRPr lang="en-ID" sz="2000" b="1" dirty="0"/>
          </a:p>
          <a:p>
            <a:pPr lvl="0">
              <a:spcAft>
                <a:spcPts val="0"/>
              </a:spcAft>
            </a:pPr>
            <a:r>
              <a:rPr lang="en-ID" sz="2000" b="1" dirty="0"/>
              <a:t>	</a:t>
            </a:r>
            <a:r>
              <a:rPr lang="en-ID" sz="2000" b="1" dirty="0" err="1"/>
              <a:t>PlantUML</a:t>
            </a:r>
            <a:endParaRPr lang="en-ID" sz="2000" b="1" dirty="0"/>
          </a:p>
          <a:p>
            <a:pPr lvl="0">
              <a:spcAft>
                <a:spcPts val="0"/>
              </a:spcAft>
            </a:pPr>
            <a:endParaRPr lang="en-ID" sz="2000" b="1" dirty="0"/>
          </a:p>
          <a:p>
            <a:pPr lvl="0">
              <a:spcAft>
                <a:spcPts val="0"/>
              </a:spcAft>
            </a:pPr>
            <a:r>
              <a:rPr lang="en-ID" sz="2000" b="1" dirty="0"/>
              <a:t>	</a:t>
            </a:r>
            <a:r>
              <a:rPr lang="en-ID" sz="2000" b="1" dirty="0" err="1"/>
              <a:t>Structurizr</a:t>
            </a:r>
            <a:endParaRPr lang="en-ID" sz="2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678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6D094-8A4F-F064-AEA9-95606BDD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F21DB31-0488-E0EA-40DA-CBD9D08F7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List of Tools (</a:t>
            </a:r>
            <a:r>
              <a:rPr lang="en-AU" b="1" dirty="0" err="1"/>
              <a:t>Evaulated</a:t>
            </a:r>
            <a:r>
              <a:rPr lang="en-AU" b="1" dirty="0"/>
              <a:t>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964FEC-3129-EB31-FCCF-EA720ADF3C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94A71B-93A4-DDD2-5056-291FE5C57413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53859E2B-240D-F70A-2873-AA5A218B19FA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F89D0B43-2EF9-B76B-23FB-B70F3324F9A2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A0AE0A1-6DFF-1433-9719-D8B0C054F520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ACA39-0B18-4BDC-56B2-12D56D89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Aft>
                <a:spcPts val="0"/>
              </a:spcAft>
            </a:pPr>
            <a:r>
              <a:rPr lang="en-ID" sz="2000" dirty="0"/>
              <a:t>	</a:t>
            </a:r>
            <a:r>
              <a:rPr lang="en-ID" sz="2000" b="1" dirty="0"/>
              <a:t>Visio (Unfriend me now)</a:t>
            </a:r>
          </a:p>
          <a:p>
            <a:pPr lvl="0">
              <a:spcAft>
                <a:spcPts val="0"/>
              </a:spcAft>
            </a:pPr>
            <a:endParaRPr lang="en-ID" sz="2000" b="1" dirty="0"/>
          </a:p>
          <a:p>
            <a:pPr lvl="0">
              <a:spcAft>
                <a:spcPts val="0"/>
              </a:spcAft>
            </a:pPr>
            <a:r>
              <a:rPr lang="en-ID" sz="2000" b="1" dirty="0"/>
              <a:t>	</a:t>
            </a:r>
            <a:r>
              <a:rPr lang="en-ID" sz="2000" b="1" dirty="0" err="1"/>
              <a:t>Diagrams.net</a:t>
            </a:r>
            <a:r>
              <a:rPr lang="en-ID" sz="2000" b="1" dirty="0"/>
              <a:t> (Formerly </a:t>
            </a:r>
            <a:r>
              <a:rPr lang="en-ID" sz="2000" b="1" dirty="0" err="1"/>
              <a:t>Draw.io</a:t>
            </a:r>
            <a:r>
              <a:rPr lang="en-ID" sz="2000" b="1" dirty="0"/>
              <a:t>)</a:t>
            </a:r>
          </a:p>
          <a:p>
            <a:pPr lvl="0">
              <a:spcAft>
                <a:spcPts val="0"/>
              </a:spcAft>
            </a:pPr>
            <a:endParaRPr lang="en-ID" sz="2000" b="1" dirty="0"/>
          </a:p>
          <a:p>
            <a:pPr lvl="0">
              <a:spcAft>
                <a:spcPts val="0"/>
              </a:spcAft>
            </a:pPr>
            <a:r>
              <a:rPr lang="en-ID" sz="2000" b="1" dirty="0"/>
              <a:t>	</a:t>
            </a:r>
            <a:r>
              <a:rPr lang="en-ID" sz="2000" b="1" dirty="0" err="1"/>
              <a:t>PlantUML</a:t>
            </a:r>
            <a:endParaRPr lang="en-ID" sz="2000" b="1" dirty="0"/>
          </a:p>
          <a:p>
            <a:pPr lvl="0">
              <a:spcAft>
                <a:spcPts val="0"/>
              </a:spcAft>
            </a:pPr>
            <a:endParaRPr lang="en-ID" sz="2000" b="1" dirty="0"/>
          </a:p>
          <a:p>
            <a:pPr lvl="0">
              <a:spcAft>
                <a:spcPts val="0"/>
              </a:spcAft>
            </a:pPr>
            <a:r>
              <a:rPr lang="en-ID" sz="2000" b="1" dirty="0"/>
              <a:t>	</a:t>
            </a:r>
            <a:r>
              <a:rPr lang="en-ID" sz="2000" b="1" dirty="0" err="1"/>
              <a:t>Structurizr</a:t>
            </a:r>
            <a:r>
              <a:rPr lang="en-ID" sz="2000" b="1" dirty="0"/>
              <a:t>	&lt;--- My Recommendation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7321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7655-194B-8373-A20C-B38CFD56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7971DD-B822-121D-B9EA-4B013636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Why </a:t>
            </a:r>
            <a:r>
              <a:rPr lang="en-AU" b="1" dirty="0" err="1"/>
              <a:t>Structurizr</a:t>
            </a:r>
            <a:r>
              <a:rPr lang="en-AU" b="1" dirty="0"/>
              <a:t>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C356BC7-5719-5BE2-7665-54704B739E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ACCBED2-41B1-2034-536B-A084D6E7CEA4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47A0ED58-79BD-F666-4739-932794043EC3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C66CD5F8-FCDB-2345-47D2-B043541438FA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40E2175-F9AA-4EFC-0D0C-A2486E529886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Google Shape;607;p61">
            <a:extLst>
              <a:ext uri="{FF2B5EF4-FFF2-40B4-BE49-F238E27FC236}">
                <a16:creationId xmlns:a16="http://schemas.microsoft.com/office/drawing/2014/main" id="{C8F281FF-82AE-365A-474A-F300B2891668}"/>
              </a:ext>
            </a:extLst>
          </p:cNvPr>
          <p:cNvSpPr txBox="1">
            <a:spLocks/>
          </p:cNvSpPr>
          <p:nvPr/>
        </p:nvSpPr>
        <p:spPr>
          <a:xfrm>
            <a:off x="4708556" y="2715632"/>
            <a:ext cx="2668503" cy="2671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Easier to maintain and track if your model changes in the future</a:t>
            </a:r>
            <a:endParaRPr lang="en-ID" sz="1600" dirty="0"/>
          </a:p>
        </p:txBody>
      </p:sp>
      <p:sp>
        <p:nvSpPr>
          <p:cNvPr id="36" name="Google Shape;608;p61">
            <a:extLst>
              <a:ext uri="{FF2B5EF4-FFF2-40B4-BE49-F238E27FC236}">
                <a16:creationId xmlns:a16="http://schemas.microsoft.com/office/drawing/2014/main" id="{CD9B0C4D-3702-88EC-73F3-20E9E1CB7813}"/>
              </a:ext>
            </a:extLst>
          </p:cNvPr>
          <p:cNvSpPr txBox="1">
            <a:spLocks/>
          </p:cNvSpPr>
          <p:nvPr/>
        </p:nvSpPr>
        <p:spPr>
          <a:xfrm>
            <a:off x="1105020" y="2746602"/>
            <a:ext cx="2516007" cy="26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It’s the only tool that is built from the ground up with C4 in mind</a:t>
            </a:r>
            <a:endParaRPr lang="en-ID" sz="1600" dirty="0"/>
          </a:p>
        </p:txBody>
      </p:sp>
      <p:sp>
        <p:nvSpPr>
          <p:cNvPr id="37" name="Google Shape;609;p61">
            <a:extLst>
              <a:ext uri="{FF2B5EF4-FFF2-40B4-BE49-F238E27FC236}">
                <a16:creationId xmlns:a16="http://schemas.microsoft.com/office/drawing/2014/main" id="{13500372-1FD8-DA9C-8091-3C1F7A1DEFDD}"/>
              </a:ext>
            </a:extLst>
          </p:cNvPr>
          <p:cNvSpPr txBox="1">
            <a:spLocks/>
          </p:cNvSpPr>
          <p:nvPr/>
        </p:nvSpPr>
        <p:spPr>
          <a:xfrm>
            <a:off x="8416327" y="2688395"/>
            <a:ext cx="2152707" cy="26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10000"/>
              </a:lnSpc>
              <a:spcAft>
                <a:spcPts val="0"/>
              </a:spcAft>
              <a:buClr>
                <a:srgbClr val="0075DD"/>
              </a:buClr>
              <a:buSzPts val="1500"/>
            </a:pPr>
            <a:r>
              <a:rPr lang="en-ID" sz="1600" b="1" dirty="0"/>
              <a:t>We all love free right?</a:t>
            </a:r>
            <a:endParaRPr lang="en-ID" sz="1600" dirty="0"/>
          </a:p>
        </p:txBody>
      </p:sp>
      <p:sp>
        <p:nvSpPr>
          <p:cNvPr id="38" name="Google Shape;610;p61">
            <a:extLst>
              <a:ext uri="{FF2B5EF4-FFF2-40B4-BE49-F238E27FC236}">
                <a16:creationId xmlns:a16="http://schemas.microsoft.com/office/drawing/2014/main" id="{1753B282-8B67-84FE-A366-8BB8227B96C6}"/>
              </a:ext>
            </a:extLst>
          </p:cNvPr>
          <p:cNvSpPr txBox="1">
            <a:spLocks/>
          </p:cNvSpPr>
          <p:nvPr/>
        </p:nvSpPr>
        <p:spPr>
          <a:xfrm>
            <a:off x="714138" y="172192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Built by the author of C4 – Simon Brown</a:t>
            </a:r>
          </a:p>
        </p:txBody>
      </p:sp>
      <p:sp>
        <p:nvSpPr>
          <p:cNvPr id="39" name="Google Shape;611;p61">
            <a:extLst>
              <a:ext uri="{FF2B5EF4-FFF2-40B4-BE49-F238E27FC236}">
                <a16:creationId xmlns:a16="http://schemas.microsoft.com/office/drawing/2014/main" id="{DA96EA92-5EF9-1E01-C536-FAE9C8BC82C3}"/>
              </a:ext>
            </a:extLst>
          </p:cNvPr>
          <p:cNvSpPr txBox="1">
            <a:spLocks/>
          </p:cNvSpPr>
          <p:nvPr/>
        </p:nvSpPr>
        <p:spPr>
          <a:xfrm>
            <a:off x="4246049" y="1700962"/>
            <a:ext cx="23493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Modelling Diagram as Code</a:t>
            </a:r>
          </a:p>
        </p:txBody>
      </p:sp>
      <p:sp>
        <p:nvSpPr>
          <p:cNvPr id="40" name="Google Shape;612;p61">
            <a:extLst>
              <a:ext uri="{FF2B5EF4-FFF2-40B4-BE49-F238E27FC236}">
                <a16:creationId xmlns:a16="http://schemas.microsoft.com/office/drawing/2014/main" id="{A79C2D60-F8ED-0ADC-6C32-ACC70DDACC7F}"/>
              </a:ext>
            </a:extLst>
          </p:cNvPr>
          <p:cNvSpPr txBox="1">
            <a:spLocks/>
          </p:cNvSpPr>
          <p:nvPr/>
        </p:nvSpPr>
        <p:spPr>
          <a:xfrm>
            <a:off x="8012264" y="1404743"/>
            <a:ext cx="2960831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Clr>
                <a:srgbClr val="001B40"/>
              </a:buClr>
              <a:buSzPts val="1800"/>
            </a:pPr>
            <a:r>
              <a:rPr lang="en-ID" sz="1800" b="1" dirty="0"/>
              <a:t>Free and Open Sourced</a:t>
            </a:r>
          </a:p>
        </p:txBody>
      </p:sp>
      <p:grpSp>
        <p:nvGrpSpPr>
          <p:cNvPr id="41" name="Google Shape;614;p61">
            <a:extLst>
              <a:ext uri="{FF2B5EF4-FFF2-40B4-BE49-F238E27FC236}">
                <a16:creationId xmlns:a16="http://schemas.microsoft.com/office/drawing/2014/main" id="{FCED554F-E762-56D0-D1B9-4101FF926049}"/>
              </a:ext>
            </a:extLst>
          </p:cNvPr>
          <p:cNvGrpSpPr/>
          <p:nvPr/>
        </p:nvGrpSpPr>
        <p:grpSpPr>
          <a:xfrm>
            <a:off x="623473" y="2710985"/>
            <a:ext cx="326501" cy="395100"/>
            <a:chOff x="1078549" y="1823750"/>
            <a:chExt cx="326501" cy="395100"/>
          </a:xfrm>
        </p:grpSpPr>
        <p:sp>
          <p:nvSpPr>
            <p:cNvPr id="42" name="Google Shape;615;p61">
              <a:extLst>
                <a:ext uri="{FF2B5EF4-FFF2-40B4-BE49-F238E27FC236}">
                  <a16:creationId xmlns:a16="http://schemas.microsoft.com/office/drawing/2014/main" id="{41C49170-7FDC-AE2A-E6D3-00DCC4BEE477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3" name="Google Shape;616;p61">
              <a:extLst>
                <a:ext uri="{FF2B5EF4-FFF2-40B4-BE49-F238E27FC236}">
                  <a16:creationId xmlns:a16="http://schemas.microsoft.com/office/drawing/2014/main" id="{D1B51662-5F90-24EB-BCA4-A0F09B0BC01A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 dirty="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</a:t>
              </a:r>
              <a:endParaRPr sz="11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44" name="Google Shape;617;p61">
            <a:extLst>
              <a:ext uri="{FF2B5EF4-FFF2-40B4-BE49-F238E27FC236}">
                <a16:creationId xmlns:a16="http://schemas.microsoft.com/office/drawing/2014/main" id="{EC63151B-19B2-EA52-7FCC-CE50CF4BC743}"/>
              </a:ext>
            </a:extLst>
          </p:cNvPr>
          <p:cNvGrpSpPr/>
          <p:nvPr/>
        </p:nvGrpSpPr>
        <p:grpSpPr>
          <a:xfrm>
            <a:off x="4226973" y="2680015"/>
            <a:ext cx="326501" cy="395100"/>
            <a:chOff x="1078549" y="1823750"/>
            <a:chExt cx="326501" cy="395100"/>
          </a:xfrm>
        </p:grpSpPr>
        <p:sp>
          <p:nvSpPr>
            <p:cNvPr id="45" name="Google Shape;618;p61">
              <a:extLst>
                <a:ext uri="{FF2B5EF4-FFF2-40B4-BE49-F238E27FC236}">
                  <a16:creationId xmlns:a16="http://schemas.microsoft.com/office/drawing/2014/main" id="{3BCE2156-ADD2-BA5B-0DB7-5C5E3C6D7872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6" name="Google Shape;619;p61">
              <a:extLst>
                <a:ext uri="{FF2B5EF4-FFF2-40B4-BE49-F238E27FC236}">
                  <a16:creationId xmlns:a16="http://schemas.microsoft.com/office/drawing/2014/main" id="{2D571510-4663-AEFE-942F-7258E575990C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2</a:t>
              </a:r>
              <a:endPara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47" name="Google Shape;620;p61">
            <a:extLst>
              <a:ext uri="{FF2B5EF4-FFF2-40B4-BE49-F238E27FC236}">
                <a16:creationId xmlns:a16="http://schemas.microsoft.com/office/drawing/2014/main" id="{BEA4A4B7-F0E4-94B6-9E0E-212F6E7E5B30}"/>
              </a:ext>
            </a:extLst>
          </p:cNvPr>
          <p:cNvGrpSpPr/>
          <p:nvPr/>
        </p:nvGrpSpPr>
        <p:grpSpPr>
          <a:xfrm>
            <a:off x="7934708" y="2652778"/>
            <a:ext cx="326501" cy="395100"/>
            <a:chOff x="1078549" y="1823750"/>
            <a:chExt cx="326501" cy="395100"/>
          </a:xfrm>
        </p:grpSpPr>
        <p:sp>
          <p:nvSpPr>
            <p:cNvPr id="48" name="Google Shape;621;p61">
              <a:extLst>
                <a:ext uri="{FF2B5EF4-FFF2-40B4-BE49-F238E27FC236}">
                  <a16:creationId xmlns:a16="http://schemas.microsoft.com/office/drawing/2014/main" id="{B37A9E80-D916-1789-7E1A-E29062728867}"/>
                </a:ext>
              </a:extLst>
            </p:cNvPr>
            <p:cNvSpPr/>
            <p:nvPr/>
          </p:nvSpPr>
          <p:spPr>
            <a:xfrm>
              <a:off x="1078650" y="1858060"/>
              <a:ext cx="326400" cy="326400"/>
            </a:xfrm>
            <a:prstGeom prst="ellipse">
              <a:avLst/>
            </a:prstGeom>
            <a:solidFill>
              <a:srgbClr val="FFC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endParaRPr sz="500" b="1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622;p61">
              <a:extLst>
                <a:ext uri="{FF2B5EF4-FFF2-40B4-BE49-F238E27FC236}">
                  <a16:creationId xmlns:a16="http://schemas.microsoft.com/office/drawing/2014/main" id="{D8FECF47-AB8E-9628-204E-ACD910016D46}"/>
                </a:ext>
              </a:extLst>
            </p:cNvPr>
            <p:cNvSpPr txBox="1"/>
            <p:nvPr/>
          </p:nvSpPr>
          <p:spPr>
            <a:xfrm>
              <a:off x="1078549" y="1823750"/>
              <a:ext cx="326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B40"/>
                </a:buClr>
                <a:buSzPts val="1400"/>
                <a:buFont typeface="Arial"/>
                <a:buNone/>
              </a:pPr>
              <a:r>
                <a:rPr lang="en-ID" sz="1100" b="1" i="0" u="none" strike="noStrike" cap="none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</a:t>
              </a:r>
              <a:endPara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50" name="Google Shape;623;p61">
            <a:extLst>
              <a:ext uri="{FF2B5EF4-FFF2-40B4-BE49-F238E27FC236}">
                <a16:creationId xmlns:a16="http://schemas.microsoft.com/office/drawing/2014/main" id="{E9EDD9CA-F1E9-795C-63A1-4600CE000C8A}"/>
              </a:ext>
            </a:extLst>
          </p:cNvPr>
          <p:cNvCxnSpPr/>
          <p:nvPr/>
        </p:nvCxnSpPr>
        <p:spPr>
          <a:xfrm>
            <a:off x="795468" y="318875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624;p61">
            <a:extLst>
              <a:ext uri="{FF2B5EF4-FFF2-40B4-BE49-F238E27FC236}">
                <a16:creationId xmlns:a16="http://schemas.microsoft.com/office/drawing/2014/main" id="{71247D65-F219-D8EB-2B4D-D73B204C43BB}"/>
              </a:ext>
            </a:extLst>
          </p:cNvPr>
          <p:cNvCxnSpPr/>
          <p:nvPr/>
        </p:nvCxnSpPr>
        <p:spPr>
          <a:xfrm>
            <a:off x="4398968" y="3157789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625;p61">
            <a:extLst>
              <a:ext uri="{FF2B5EF4-FFF2-40B4-BE49-F238E27FC236}">
                <a16:creationId xmlns:a16="http://schemas.microsoft.com/office/drawing/2014/main" id="{570BE2A7-D10B-ACC8-D91C-18E81CFC202C}"/>
              </a:ext>
            </a:extLst>
          </p:cNvPr>
          <p:cNvCxnSpPr/>
          <p:nvPr/>
        </p:nvCxnSpPr>
        <p:spPr>
          <a:xfrm>
            <a:off x="8095817" y="3130552"/>
            <a:ext cx="0" cy="15480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846131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241C6-CA57-B061-B950-B2274AD3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210196D-C2EF-18D8-420E-629CC6E0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r>
              <a:rPr lang="en-AU" b="1" dirty="0"/>
              <a:t>Resources | References	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96D8BA-430C-F12F-957C-9E1DC8C33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2C4D06-CF3E-DAE4-1638-41227B7FB446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72FEEA53-C132-927B-44DC-F6A4B2689763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38F0D9B9-6F0F-A8CF-AD16-7FAD23BB261C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A72D90-136A-A6CF-DB5B-C709B3A5B712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8D41A-D9BA-5228-E45E-1A59C09B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b="1" dirty="0"/>
              <a:t>C4</a:t>
            </a:r>
          </a:p>
          <a:p>
            <a:pPr lvl="0">
              <a:spcAft>
                <a:spcPts val="0"/>
              </a:spcAft>
            </a:pPr>
            <a:r>
              <a:rPr lang="en-ID" b="1" dirty="0"/>
              <a:t>	</a:t>
            </a:r>
            <a:r>
              <a:rPr lang="en-ID" i="1" dirty="0"/>
              <a:t>C4 Website</a:t>
            </a:r>
          </a:p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u="sng" dirty="0">
                <a:solidFill>
                  <a:schemeClr val="hlink"/>
                </a:solidFill>
                <a:hlinkClick r:id="rId3"/>
              </a:rPr>
              <a:t>https://c4model.com/</a:t>
            </a:r>
            <a:endParaRPr lang="en-ID" dirty="0"/>
          </a:p>
          <a:p>
            <a:pPr lvl="0">
              <a:spcAft>
                <a:spcPts val="0"/>
              </a:spcAft>
            </a:pPr>
            <a:endParaRPr lang="en-ID" dirty="0"/>
          </a:p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b="1" dirty="0" err="1"/>
              <a:t>Leanpub</a:t>
            </a:r>
            <a:endParaRPr lang="en-ID" b="1" dirty="0"/>
          </a:p>
          <a:p>
            <a:pPr lvl="0">
              <a:spcAft>
                <a:spcPts val="0"/>
              </a:spcAft>
            </a:pPr>
            <a:r>
              <a:rPr lang="en-ID" b="1" dirty="0"/>
              <a:t>	</a:t>
            </a:r>
            <a:r>
              <a:rPr lang="en-ID" dirty="0"/>
              <a:t>The C4 model for visualising software architecture</a:t>
            </a:r>
          </a:p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u="sng" dirty="0">
                <a:solidFill>
                  <a:schemeClr val="hlink"/>
                </a:solidFill>
                <a:hlinkClick r:id="rId4"/>
              </a:rPr>
              <a:t>https://leanpub.com/visualising-software-architecture</a:t>
            </a:r>
            <a:endParaRPr lang="en-ID" dirty="0"/>
          </a:p>
          <a:p>
            <a:endParaRPr lang="en-US" dirty="0"/>
          </a:p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b="1" dirty="0" err="1"/>
              <a:t>Structurizr</a:t>
            </a:r>
            <a:endParaRPr lang="en-ID" b="1" dirty="0"/>
          </a:p>
          <a:p>
            <a:pPr lvl="0">
              <a:spcAft>
                <a:spcPts val="0"/>
              </a:spcAft>
            </a:pPr>
            <a:r>
              <a:rPr lang="en-ID" b="1" dirty="0"/>
              <a:t>	</a:t>
            </a:r>
            <a:r>
              <a:rPr lang="en-ID" u="sng" dirty="0">
                <a:solidFill>
                  <a:schemeClr val="hlink"/>
                </a:solidFill>
                <a:hlinkClick r:id="rId5"/>
              </a:rPr>
              <a:t>https://github.com/structurizr</a:t>
            </a:r>
            <a:endParaRPr lang="en-ID" dirty="0"/>
          </a:p>
          <a:p>
            <a:r>
              <a:rPr lang="en-US" dirty="0"/>
              <a:t>	</a:t>
            </a:r>
            <a:r>
              <a:rPr lang="en-ID" u="sng" dirty="0">
                <a:solidFill>
                  <a:schemeClr val="hlink"/>
                </a:solidFill>
                <a:hlinkClick r:id="rId6"/>
              </a:rPr>
              <a:t>https://structurizr.com/</a:t>
            </a:r>
            <a:endParaRPr lang="en-ID" dirty="0"/>
          </a:p>
          <a:p>
            <a:pPr lvl="0" indent="457200">
              <a:spcAft>
                <a:spcPts val="0"/>
              </a:spcAft>
            </a:pPr>
            <a:r>
              <a:rPr lang="en-ID" b="1" dirty="0"/>
              <a:t>	Cheat Sheet</a:t>
            </a:r>
          </a:p>
          <a:p>
            <a:pPr indent="457200">
              <a:spcAft>
                <a:spcPts val="0"/>
              </a:spcAft>
            </a:pPr>
            <a:r>
              <a:rPr lang="en-ID" b="1" dirty="0"/>
              <a:t>	</a:t>
            </a:r>
            <a:r>
              <a:rPr lang="en-ID" u="sng" dirty="0">
                <a:solidFill>
                  <a:schemeClr val="hlink"/>
                </a:solidFill>
                <a:hlinkClick r:id="rId7"/>
              </a:rPr>
              <a:t>https://static.codingthearchitecture.com/c4.pdf</a:t>
            </a:r>
            <a:endParaRPr lang="en-ID" dirty="0"/>
          </a:p>
          <a:p>
            <a:pPr lvl="0" indent="457200">
              <a:spcAft>
                <a:spcPts val="0"/>
              </a:spcAft>
            </a:pPr>
            <a:endParaRPr lang="en-US" dirty="0"/>
          </a:p>
          <a:p>
            <a:pPr>
              <a:spcAft>
                <a:spcPts val="0"/>
              </a:spcAft>
            </a:pPr>
            <a:r>
              <a:rPr lang="en-ID" dirty="0"/>
              <a:t>	</a:t>
            </a:r>
            <a:r>
              <a:rPr lang="en-ID" u="sng" dirty="0">
                <a:solidFill>
                  <a:schemeClr val="accent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https://c4model.com/</a:t>
            </a:r>
            <a:endParaRPr lang="en-ID" dirty="0">
              <a:solidFill>
                <a:schemeClr val="accent2">
                  <a:lumMod val="75000"/>
                </a:schemeClr>
              </a:solidFill>
            </a:endParaRPr>
          </a:p>
          <a:p>
            <a:pPr lvl="0">
              <a:spcAft>
                <a:spcPts val="0"/>
              </a:spcAft>
            </a:pPr>
            <a:endParaRPr lang="en-ID" dirty="0"/>
          </a:p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u="sng" dirty="0">
                <a:solidFill>
                  <a:schemeClr val="accent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https://leanpub.com/visualising-software-architecture</a:t>
            </a:r>
            <a:endParaRPr lang="en-ID" dirty="0">
              <a:solidFill>
                <a:schemeClr val="accent2">
                  <a:lumMod val="75000"/>
                </a:schemeClr>
              </a:solidFill>
            </a:endParaRPr>
          </a:p>
          <a:p>
            <a:pPr lvl="0">
              <a:spcAft>
                <a:spcPts val="0"/>
              </a:spcAft>
            </a:pPr>
            <a:endParaRPr lang="en-ID" dirty="0"/>
          </a:p>
          <a:p>
            <a:pPr lvl="0">
              <a:spcAft>
                <a:spcPts val="0"/>
              </a:spcAft>
            </a:pPr>
            <a:r>
              <a:rPr lang="en-ID" dirty="0"/>
              <a:t>	</a:t>
            </a:r>
            <a:r>
              <a:rPr lang="en-ID" u="sng" dirty="0">
                <a:solidFill>
                  <a:schemeClr val="hlink"/>
                </a:solidFill>
                <a:hlinkClick r:id="rId8"/>
              </a:rPr>
              <a:t>https://medium.com/google-design/google-maps-cb0326d165f5</a:t>
            </a:r>
            <a:endParaRPr lang="en-ID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35047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FD205-94CA-4DFB-BD04-D6167E8D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3CF2714-5091-1F8E-CA0F-A398E89A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99B6A3-29DD-B396-B29E-B2A6F6B4D2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045C8D-372A-CAC9-A9AB-8CD55C1CAE2F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424167E7-015B-F1B7-C08D-99D6A0655367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CE0A298D-4A8E-057B-D724-B22083E0FE40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C2D416F-7F02-CA19-0C69-BF1059FCD4DA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Google Shape;857;p90">
            <a:extLst>
              <a:ext uri="{FF2B5EF4-FFF2-40B4-BE49-F238E27FC236}">
                <a16:creationId xmlns:a16="http://schemas.microsoft.com/office/drawing/2014/main" id="{DC974788-6054-B07B-11FA-51A8B29A864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864" y="871083"/>
            <a:ext cx="7094764" cy="535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6868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AF9C-D84B-7D24-BDB2-8C633FC9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7E8FD56-85AE-0358-10F9-C47562AF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>
            <a:normAutofit/>
          </a:bodyPr>
          <a:lstStyle/>
          <a:p>
            <a:endParaRPr lang="en-AU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CF695B7-AA94-B6F5-CA73-64B60C91A4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9131D2-F433-0CD8-39DF-7222BEC23396}"/>
              </a:ext>
            </a:extLst>
          </p:cNvPr>
          <p:cNvGrpSpPr/>
          <p:nvPr/>
        </p:nvGrpSpPr>
        <p:grpSpPr>
          <a:xfrm>
            <a:off x="466726" y="6455229"/>
            <a:ext cx="11256962" cy="259665"/>
            <a:chOff x="466726" y="6455229"/>
            <a:chExt cx="11256962" cy="259665"/>
          </a:xfrm>
        </p:grpSpPr>
        <p:sp>
          <p:nvSpPr>
            <p:cNvPr id="6" name="Text Placeholder 12">
              <a:extLst>
                <a:ext uri="{FF2B5EF4-FFF2-40B4-BE49-F238E27FC236}">
                  <a16:creationId xmlns:a16="http://schemas.microsoft.com/office/drawing/2014/main" id="{CB1C1F53-196B-EE07-66D6-DFCDCEB7AB4C}"/>
                </a:ext>
              </a:extLst>
            </p:cNvPr>
            <p:cNvSpPr txBox="1">
              <a:spLocks/>
            </p:cNvSpPr>
            <p:nvPr/>
          </p:nvSpPr>
          <p:spPr>
            <a:xfrm>
              <a:off x="466726" y="6573607"/>
              <a:ext cx="7456488" cy="141287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1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Insert footer source text here</a:t>
              </a:r>
            </a:p>
          </p:txBody>
        </p:sp>
        <p:sp>
          <p:nvSpPr>
            <p:cNvPr id="7" name="Text Placeholder 12">
              <a:extLst>
                <a:ext uri="{FF2B5EF4-FFF2-40B4-BE49-F238E27FC236}">
                  <a16:creationId xmlns:a16="http://schemas.microsoft.com/office/drawing/2014/main" id="{C1F00D78-B2FF-2B60-CAEC-9B3E91229D09}"/>
                </a:ext>
              </a:extLst>
            </p:cNvPr>
            <p:cNvSpPr txBox="1">
              <a:spLocks/>
            </p:cNvSpPr>
            <p:nvPr/>
          </p:nvSpPr>
          <p:spPr>
            <a:xfrm>
              <a:off x="11289759" y="6572251"/>
              <a:ext cx="433929" cy="141287"/>
            </a:xfrm>
            <a:prstGeom prst="rect">
              <a:avLst/>
            </a:prstGeom>
          </p:spPr>
          <p:txBody>
            <a:bodyPr vert="horz" lIns="0" tIns="0" rIns="0" bIns="0" rtlCol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700" kern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7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900" dirty="0"/>
                <a:t>01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97E715-84F5-DD37-08F2-D8770A87F4CB}"/>
                </a:ext>
              </a:extLst>
            </p:cNvPr>
            <p:cNvCxnSpPr>
              <a:cxnSpLocks/>
            </p:cNvCxnSpPr>
            <p:nvPr/>
          </p:nvCxnSpPr>
          <p:spPr>
            <a:xfrm>
              <a:off x="468997" y="6455229"/>
              <a:ext cx="11254006" cy="0"/>
            </a:xfrm>
            <a:prstGeom prst="line">
              <a:avLst/>
            </a:prstGeom>
            <a:ln>
              <a:solidFill>
                <a:srgbClr val="00B7C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Funny End of Presentation ANY QUESTIONS? Meme Generator at MemeCreator.org!">
            <a:extLst>
              <a:ext uri="{FF2B5EF4-FFF2-40B4-BE49-F238E27FC236}">
                <a16:creationId xmlns:a16="http://schemas.microsoft.com/office/drawing/2014/main" id="{4F149FCB-6BA0-656D-14D7-AB83F66BA3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150" y="1609725"/>
            <a:ext cx="4710113" cy="471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104319"/>
      </p:ext>
    </p:extLst>
  </p:cSld>
  <p:clrMapOvr>
    <a:masterClrMapping/>
  </p:clrMapOvr>
</p:sld>
</file>

<file path=ppt/theme/theme1.xml><?xml version="1.0" encoding="utf-8"?>
<a:theme xmlns:a="http://schemas.openxmlformats.org/drawingml/2006/main" name="Shift Masterbrand template">
  <a:themeElements>
    <a:clrScheme name="Get Capital">
      <a:dk1>
        <a:sysClr val="windowText" lastClr="000000"/>
      </a:dk1>
      <a:lt1>
        <a:sysClr val="window" lastClr="FFFFFF"/>
      </a:lt1>
      <a:dk2>
        <a:srgbClr val="1E3641"/>
      </a:dk2>
      <a:lt2>
        <a:srgbClr val="EEEEEE"/>
      </a:lt2>
      <a:accent1>
        <a:srgbClr val="1E3641"/>
      </a:accent1>
      <a:accent2>
        <a:srgbClr val="00B7C1"/>
      </a:accent2>
      <a:accent3>
        <a:srgbClr val="20475B"/>
      </a:accent3>
      <a:accent4>
        <a:srgbClr val="849298"/>
      </a:accent4>
      <a:accent5>
        <a:srgbClr val="EEA616"/>
      </a:accent5>
      <a:accent6>
        <a:srgbClr val="F4C973"/>
      </a:accent6>
      <a:hlink>
        <a:srgbClr val="00B7C1"/>
      </a:hlink>
      <a:folHlink>
        <a:srgbClr val="1E36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0" tIns="0" rIns="0" bIns="0" rtlCol="0" anchor="ctr"/>
      <a:lstStyle>
        <a:defPPr algn="ctr">
          <a:spcAft>
            <a:spcPts val="1200"/>
          </a:spcAft>
          <a:defRPr sz="1400"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1200"/>
          </a:spcAft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75DD9546C754DB958D7077A90F09F" ma:contentTypeVersion="15" ma:contentTypeDescription="Create a new document." ma:contentTypeScope="" ma:versionID="647fd0c78808c1dd5a204998d2cbcfaf">
  <xsd:schema xmlns:xsd="http://www.w3.org/2001/XMLSchema" xmlns:xs="http://www.w3.org/2001/XMLSchema" xmlns:p="http://schemas.microsoft.com/office/2006/metadata/properties" xmlns:ns2="d880fe4c-76c8-4dbb-ac6d-5e84bbe3f4fc" xmlns:ns3="a7a517cb-275a-4e40-ac7b-b0cdcbd5986b" targetNamespace="http://schemas.microsoft.com/office/2006/metadata/properties" ma:root="true" ma:fieldsID="d4576e6c1ad0d84beda6382280f79be8" ns2:_="" ns3:_="">
    <xsd:import namespace="d880fe4c-76c8-4dbb-ac6d-5e84bbe3f4fc"/>
    <xsd:import namespace="a7a517cb-275a-4e40-ac7b-b0cdcbd598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80fe4c-76c8-4dbb-ac6d-5e84bbe3f4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2a668c7-9731-46f0-a8db-eca3ed97f0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a517cb-275a-4e40-ac7b-b0cdcbd5986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940f1a5-3bf3-4613-b5de-b57bcb46a704}" ma:internalName="TaxCatchAll" ma:showField="CatchAllData" ma:web="a7a517cb-275a-4e40-ac7b-b0cdcbd598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7a517cb-275a-4e40-ac7b-b0cdcbd5986b" xsi:nil="true"/>
    <lcf76f155ced4ddcb4097134ff3c332f xmlns="d880fe4c-76c8-4dbb-ac6d-5e84bbe3f4fc">
      <Terms xmlns="http://schemas.microsoft.com/office/infopath/2007/PartnerControls"/>
    </lcf76f155ced4ddcb4097134ff3c332f>
    <SharedWithUsers xmlns="a7a517cb-275a-4e40-ac7b-b0cdcbd5986b">
      <UserInfo>
        <DisplayName>Charith Sooriyaarachchi</DisplayName>
        <AccountId>188</AccountId>
        <AccountType/>
      </UserInfo>
      <UserInfo>
        <DisplayName>Shift Members</DisplayName>
        <AccountId>918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96AFB2EE-DC4B-4741-B009-F29837575C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237705-2EE2-4228-AA70-8A1C1D5379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80fe4c-76c8-4dbb-ac6d-5e84bbe3f4fc"/>
    <ds:schemaRef ds:uri="a7a517cb-275a-4e40-ac7b-b0cdcbd598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431222-97F8-4639-996E-F288073F31B5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a7a517cb-275a-4e40-ac7b-b0cdcbd5986b"/>
    <ds:schemaRef ds:uri="http://purl.org/dc/dcmitype/"/>
    <ds:schemaRef ds:uri="http://purl.org/dc/terms/"/>
    <ds:schemaRef ds:uri="http://schemas.microsoft.com/office/infopath/2007/PartnerControls"/>
    <ds:schemaRef ds:uri="d880fe4c-76c8-4dbb-ac6d-5e84bbe3f4f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4601</Words>
  <Application>Microsoft Macintosh PowerPoint</Application>
  <PresentationFormat>Widescreen</PresentationFormat>
  <Paragraphs>563</Paragraphs>
  <Slides>48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Libre Franklin</vt:lpstr>
      <vt:lpstr>Shift Masterbrand template</vt:lpstr>
      <vt:lpstr>Diagrams that make sense – C4 Model</vt:lpstr>
      <vt:lpstr>Speaker Intro</vt:lpstr>
      <vt:lpstr>Agenda</vt:lpstr>
      <vt:lpstr>Why do we even need C4?</vt:lpstr>
      <vt:lpstr>PowerPoint Presentation</vt:lpstr>
      <vt:lpstr>Let’s play a Game</vt:lpstr>
      <vt:lpstr>PowerPoint Presentation</vt:lpstr>
      <vt:lpstr>PowerPoint Presentation</vt:lpstr>
      <vt:lpstr>PowerPoint Presentation</vt:lpstr>
      <vt:lpstr>What’s wrong with the previous diagrams?</vt:lpstr>
      <vt:lpstr>What’s wrong with the previous diagrams?</vt:lpstr>
      <vt:lpstr>What’s wrong with the previous diagrams?</vt:lpstr>
      <vt:lpstr>What’s wrong with the previous diagrams?</vt:lpstr>
      <vt:lpstr>Common Problems with System Diagrams </vt:lpstr>
      <vt:lpstr>Common Problems with System Diagrams </vt:lpstr>
      <vt:lpstr>So what is C4?</vt:lpstr>
      <vt:lpstr>So what is C4?</vt:lpstr>
      <vt:lpstr>So what is C4 (really)? </vt:lpstr>
      <vt:lpstr>What is C4 isn’t </vt:lpstr>
      <vt:lpstr>C4 in a nutshell (TLDR)</vt:lpstr>
      <vt:lpstr>So what are the 4 Cs in C4?</vt:lpstr>
      <vt:lpstr>But before we dive deeper into the Cs …. </vt:lpstr>
      <vt:lpstr>But before we dive deeper …. </vt:lpstr>
      <vt:lpstr>But before we dive deeper …. </vt:lpstr>
      <vt:lpstr>But before we dive deeper …. </vt:lpstr>
      <vt:lpstr>But before we dive deeper …. </vt:lpstr>
      <vt:lpstr>… and some other key features</vt:lpstr>
      <vt:lpstr>L1 - Context (or System Context)</vt:lpstr>
      <vt:lpstr>L1 - Context (or System Context)</vt:lpstr>
      <vt:lpstr>L1 - What is the point of diagrams simple as L1?</vt:lpstr>
      <vt:lpstr>L2 - Container</vt:lpstr>
      <vt:lpstr>L2 - Container</vt:lpstr>
      <vt:lpstr>L2 - Container</vt:lpstr>
      <vt:lpstr>L3 - Component</vt:lpstr>
      <vt:lpstr>L3 – Component Level (Key Points)</vt:lpstr>
      <vt:lpstr>L3 – Component Level (Key Points)</vt:lpstr>
      <vt:lpstr>L3 - Component</vt:lpstr>
      <vt:lpstr>L4 - Code</vt:lpstr>
      <vt:lpstr>L4 – Code (Keypoints)</vt:lpstr>
      <vt:lpstr>Tooling</vt:lpstr>
      <vt:lpstr>PowerPoint Presentation</vt:lpstr>
      <vt:lpstr>List of Tools </vt:lpstr>
      <vt:lpstr>List of Tools (Evaulated)</vt:lpstr>
      <vt:lpstr>List of Tools (Evaulated)</vt:lpstr>
      <vt:lpstr>Why Structurizr?</vt:lpstr>
      <vt:lpstr>Resources | References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Creatik Accounts</dc:creator>
  <cp:lastModifiedBy>Francis Chung</cp:lastModifiedBy>
  <cp:revision>170</cp:revision>
  <dcterms:created xsi:type="dcterms:W3CDTF">2021-05-10T23:10:43Z</dcterms:created>
  <dcterms:modified xsi:type="dcterms:W3CDTF">2025-05-25T01:57:14Z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0x010100D4A75DD9546C754DB958D7077A90F09F</vt:lpwstr>
  </property>
  <property fmtid="{D5CDD505-2E9C-101B-9397-08002B2CF9AE}" pid="3" name="MediaServiceImageTags">
    <vt:lpwstr/>
  </property>
</Properties>
</file>